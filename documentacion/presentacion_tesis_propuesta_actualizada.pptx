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dPt>
            <c:idx val="0"/>
            <c:spPr>
              <a:solidFill>
                <a:srgbClr val="5B4FE5"/>
              </a:solidFill>
            </c:spPr>
          </c:dPt>
          <c:dPt>
            <c:idx val="1"/>
            <c:spPr>
              <a:solidFill>
                <a:srgbClr val="14B8A6"/>
              </a:solidFill>
            </c:spPr>
          </c:dPt>
          <c:cat>
            <c:strRef>
              <c:f>Sheet1!$A$2:$A$3</c:f>
              <c:strCache>
                <c:ptCount val="2"/>
                <c:pt idx="0">
                  <c:v>Docente</c:v>
                </c:pt>
                <c:pt idx="1">
                  <c:v>Administrativo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68.5</c:v>
                </c:pt>
                <c:pt idx="1">
                  <c:v>31.3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5B4FE5"/>
            </a:solidFill>
          </c:spPr>
          <c:cat>
            <c:strRef>
              <c:f>Sheet1!$A$2:$A$5</c:f>
              <c:strCache>
                <c:ptCount val="4"/>
                <c:pt idx="0">
                  <c:v>LOES</c:v>
                </c:pt>
                <c:pt idx="1">
                  <c:v>LOSEP</c:v>
                </c:pt>
                <c:pt idx="2">
                  <c:v>Contrato civil</c:v>
                </c:pt>
                <c:pt idx="3">
                  <c:v>Codigo trabajo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1376</c:v>
                </c:pt>
                <c:pt idx="1">
                  <c:v>543</c:v>
                </c:pt>
                <c:pt idx="2">
                  <c:v>247</c:v>
                </c:pt>
                <c:pt idx="3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1B22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14B8A6"/>
            </a:solidFill>
          </c:spPr>
          <c:cat>
            <c:strRef>
              <c:f>Sheet1!$A$2:$A$4</c:f>
              <c:strCache>
                <c:ptCount val="3"/>
                <c:pt idx="0">
                  <c:v>Cuarto nivel</c:v>
                </c:pt>
                <c:pt idx="1">
                  <c:v>Tercer nivel</c:v>
                </c:pt>
                <c:pt idx="2">
                  <c:v>Bachillerato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69.6</c:v>
                </c:pt>
                <c:pt idx="1">
                  <c:v>27.1</c:v>
                </c:pt>
                <c:pt idx="2">
                  <c:v>3.25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1B22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ve 2"/>
          <p:cNvSpPr/>
          <p:nvPr/>
        </p:nvSpPr>
        <p:spPr>
          <a:xfrm>
            <a:off x="-914400" y="5623560"/>
            <a:ext cx="14630400" cy="1737360"/>
          </a:xfrm>
          <a:prstGeom prst="wave">
            <a:avLst>
              <a:gd name="adj1" fmla="val 14000"/>
              <a:gd name="adj2" fmla="val 50000"/>
            </a:avLst>
          </a:prstGeom>
          <a:solidFill>
            <a:srgbClr val="14B8A6">
              <a:lumMod val="95000"/>
              <a:lumOff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ave 3"/>
          <p:cNvSpPr/>
          <p:nvPr/>
        </p:nvSpPr>
        <p:spPr>
          <a:xfrm>
            <a:off x="-914400" y="5989320"/>
            <a:ext cx="14630400" cy="1737360"/>
          </a:xfrm>
          <a:prstGeom prst="wave">
            <a:avLst>
              <a:gd name="adj1" fmla="val 14000"/>
              <a:gd name="adj2" fmla="val 60000"/>
            </a:avLst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233"/>
                </a:solidFill>
                <a:latin typeface="Calibri"/>
              </a:rPr>
              <a:t>ESPOL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22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47E8C"/>
                </a:solidFill>
                <a:latin typeface="Calibri"/>
              </a:rPr>
              <a:t>ESCUELA SUPERIOR POLITECNICA DEL LITORAL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4FE5"/>
                </a:solidFill>
                <a:latin typeface="Calibri"/>
              </a:rPr>
              <a:t>ESPOL — MAESTRIA EN CIENCIA DE DATOS E INTELIGENCIA ARTIFICIAL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B2233"/>
                </a:solidFill>
                <a:latin typeface="Calibri"/>
              </a:rPr>
              <a:t>Sistema de Generacion de Perfiles del Personal Docente y</a:t>
            </a:r>
          </a:p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B2233"/>
                </a:solidFill>
                <a:latin typeface="Calibri"/>
              </a:rPr>
              <a:t>Administrativo en ESPOL para</a:t>
            </a:r>
          </a:p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B2233"/>
                </a:solidFill>
                <a:latin typeface="Calibri"/>
              </a:rPr>
              <a:t>la asignacion inteligente de tareas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47E8C"/>
                </a:solidFill>
                <a:latin typeface="Calibri"/>
              </a:rPr>
              <a:t>Integrantes: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97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233"/>
                </a:solidFill>
                <a:latin typeface="Calibri"/>
              </a:rPr>
              <a:t>•  Pamela Rugel Diaz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6177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233"/>
                </a:solidFill>
                <a:latin typeface="Calibri"/>
              </a:rPr>
              <a:t>•  Carlos Sanchez Acosta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El Desafio de los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233"/>
                </a:solidFill>
                <a:latin typeface="Calibri"/>
              </a:rPr>
              <a:t>Situacion 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52120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F4758"/>
                </a:solidFill>
                <a:latin typeface="Calibri"/>
              </a:rPr>
              <a:t>La gestion de talento en una Institucion de Educacion Superior se ha basado tradicionalmente en marcos regulatorios manuales y criterios subjetivos.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F4758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F4758"/>
                </a:solidFill>
                <a:latin typeface="Calibri"/>
              </a:rPr>
              <a:t>Existe una gran cantidad de informacion fragmentada (curriculos, evaluaciones, reportes) que no esta siendo aprovechada para una planificacion optima.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105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GESTION DE TALENTO EN ESPOL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5B4FE5"/>
                </a:solidFill>
                <a:latin typeface="Calibri"/>
              </a:rPr>
              <a:t>●  </a:t>
            </a:r>
            <a:r>
              <a:rPr sz="1150">
                <a:solidFill>
                  <a:srgbClr val="3F4758"/>
                </a:solidFill>
                <a:latin typeface="Calibri"/>
              </a:rPr>
              <a:t>Experiencia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5B4FE5"/>
                </a:solidFill>
                <a:latin typeface="Calibri"/>
              </a:rPr>
              <a:t>●  </a:t>
            </a:r>
            <a:r>
              <a:rPr sz="1150">
                <a:solidFill>
                  <a:srgbClr val="3F4758"/>
                </a:solidFill>
                <a:latin typeface="Calibri"/>
              </a:rPr>
              <a:t>Impresion personal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5B4FE5"/>
                </a:solidFill>
                <a:latin typeface="Calibri"/>
              </a:rPr>
              <a:t>●  </a:t>
            </a:r>
            <a:r>
              <a:rPr sz="1150">
                <a:solidFill>
                  <a:srgbClr val="3F4758"/>
                </a:solidFill>
                <a:latin typeface="Calibri"/>
              </a:rPr>
              <a:t>Afinidad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5B4FE5"/>
                </a:solidFill>
                <a:latin typeface="Calibri"/>
              </a:rPr>
              <a:t>●  </a:t>
            </a:r>
            <a:r>
              <a:rPr sz="1150">
                <a:solidFill>
                  <a:srgbClr val="3F4758"/>
                </a:solidFill>
                <a:latin typeface="Calibri"/>
              </a:rPr>
              <a:t>Percepcion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8679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INFORMACION FRAGMENTADA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2062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5B4FE5"/>
                </a:solidFill>
                <a:latin typeface="Calibri"/>
              </a:rPr>
              <a:t>●  </a:t>
            </a:r>
            <a:r>
              <a:rPr sz="1150">
                <a:solidFill>
                  <a:srgbClr val="3F4758"/>
                </a:solidFill>
                <a:latin typeface="Calibri"/>
              </a:rPr>
              <a:t>Curriculos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5B4FE5"/>
                </a:solidFill>
                <a:latin typeface="Calibri"/>
              </a:rPr>
              <a:t>●  </a:t>
            </a:r>
            <a:r>
              <a:rPr sz="1150">
                <a:solidFill>
                  <a:srgbClr val="3F4758"/>
                </a:solidFill>
                <a:latin typeface="Calibri"/>
              </a:rPr>
              <a:t>Evaluaciones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5B4FE5"/>
                </a:solidFill>
                <a:latin typeface="Calibri"/>
              </a:rPr>
              <a:t>●  </a:t>
            </a:r>
            <a:r>
              <a:rPr sz="1150">
                <a:solidFill>
                  <a:srgbClr val="3F4758"/>
                </a:solidFill>
                <a:latin typeface="Calibri"/>
              </a:rPr>
              <a:t>Reportes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5B4FE5"/>
                </a:solidFill>
                <a:latin typeface="Calibri"/>
              </a:rPr>
              <a:t>●  </a:t>
            </a:r>
            <a:r>
              <a:rPr sz="1150">
                <a:solidFill>
                  <a:srgbClr val="3F4758"/>
                </a:solidFill>
                <a:latin typeface="Calibri"/>
              </a:rPr>
              <a:t>Bases de datos dispersas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5623560"/>
            <a:ext cx="5394960" cy="502920"/>
          </a:xfrm>
          <a:prstGeom prst="roundRect">
            <a:avLst>
              <a:gd name="adj" fmla="val 35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Procesos manuales, subjetivos y poca vision estrategica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JUSTIFICACION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Como podemos mejorar los procesos?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520440" cy="265176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70532" y="1856232"/>
            <a:ext cx="585216" cy="585216"/>
          </a:xfrm>
          <a:prstGeom prst="ellipse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70532" y="185623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560320"/>
            <a:ext cx="3300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B4FE5"/>
                </a:solidFill>
                <a:latin typeface="Calibri"/>
              </a:rPr>
              <a:t>Informacion dispersa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898648"/>
            <a:ext cx="326440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Datos fragmentados y no estructurados que ocultan patrones y fortalezas.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691640"/>
            <a:ext cx="3520440" cy="265176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19572" y="1856232"/>
            <a:ext cx="585216" cy="5852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9572" y="185623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560320"/>
            <a:ext cx="3300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Perfiles inteligentes y automaticos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898648"/>
            <a:ext cx="326440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Perfiles docentes multidimensionales para identificar que hace apto a los candidatos.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691640"/>
            <a:ext cx="3520440" cy="265176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68612" y="1856232"/>
            <a:ext cx="585216" cy="585216"/>
          </a:xfrm>
          <a:prstGeom prst="ellipse">
            <a:avLst/>
          </a:prstGeom>
          <a:solidFill>
            <a:srgbClr val="E0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8612" y="185623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2560320"/>
            <a:ext cx="3300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07A3B"/>
                </a:solidFill>
                <a:latin typeface="Calibri"/>
              </a:rPr>
              <a:t>Decisiones optimizadas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2898648"/>
            <a:ext cx="326440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Fortalecer decisiones objetivas, transparentes y optimizadas basadas en datos.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663440"/>
            <a:ext cx="11018520" cy="594360"/>
          </a:xfrm>
          <a:prstGeom prst="roundRect">
            <a:avLst>
              <a:gd name="adj" fmla="val 35000"/>
            </a:avLst>
          </a:prstGeom>
          <a:solidFill>
            <a:srgbClr val="2A2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Automatizar perfiles, mejores decisiones, mejores resultados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Ambito de aplicacion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13332" y="1993392"/>
            <a:ext cx="585216" cy="585216"/>
          </a:xfrm>
          <a:prstGeom prst="ellipse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13332" y="19933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697480"/>
            <a:ext cx="2386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5B4FE5"/>
                </a:solidFill>
                <a:latin typeface="Calibri"/>
              </a:rPr>
              <a:t>Empresa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035808"/>
            <a:ext cx="235000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Institucion Academica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82880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02252" y="1993392"/>
            <a:ext cx="585216" cy="5852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2252" y="19933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697480"/>
            <a:ext cx="2386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Usuarios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3035808"/>
            <a:ext cx="235000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Direccion de Talento Humano de la Institucion Academica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82880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91172" y="1993392"/>
            <a:ext cx="585216" cy="585216"/>
          </a:xfrm>
          <a:prstGeom prst="ellipse">
            <a:avLst/>
          </a:prstGeom>
          <a:solidFill>
            <a:srgbClr val="E0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1172" y="19933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2697480"/>
            <a:ext cx="2386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07A3B"/>
                </a:solidFill>
                <a:latin typeface="Calibri"/>
              </a:rPr>
              <a:t>Aplicacion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3035808"/>
            <a:ext cx="235000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Soporte para toma de decisiones de contratacion y apoyo a procesos administrativos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82880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0092" y="1993392"/>
            <a:ext cx="585216" cy="58521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80092" y="19933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2697480"/>
            <a:ext cx="2386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B82F6"/>
                </a:solidFill>
                <a:latin typeface="Calibri"/>
              </a:rPr>
              <a:t>Horizonte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7696" y="3035808"/>
            <a:ext cx="235000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Uso institucional continuo con actualizaciones periodicas del modelo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Objetivo general y objetivos especificos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1185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3F4758"/>
                </a:solidFill>
                <a:latin typeface="Calibri"/>
              </a:rPr>
              <a:t>Desarrollar un modelo de perfilamiento del personal docente y administrativo de ESPOL, basado en informacion estructurada y no estructurada proveniente de datos historicos institucionales, mediante tecnicas de mineria de datos, procesamiento de lenguaje natural y aprendizaje automatico, con el proposito de apoyar la toma de decisiones en procesos estrategicos institucionales.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231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651760"/>
            <a:ext cx="502920" cy="502920"/>
          </a:xfrm>
          <a:prstGeom prst="ellipse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679192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5B4FE5"/>
                </a:solidFill>
                <a:latin typeface="Calibri"/>
              </a:rPr>
              <a:t>Integracion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44952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Consolidar fuentes estructuradas y no estructuradas mediante procesos de limpieza, transformacion, extraccion de caracteristicas y representacion semantica.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42316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3640" y="2651760"/>
            <a:ext cx="502920" cy="502920"/>
          </a:xfrm>
          <a:prstGeom prst="ellipse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6517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679192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5B4FE5"/>
                </a:solidFill>
                <a:latin typeface="Calibri"/>
              </a:rPr>
              <a:t>Identificacion de Perfiles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044952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Descubrir patrones presentes en la informacion institucional, tales como trayectorias, experiencias o caracteristicas comunes.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6052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389120"/>
            <a:ext cx="502920" cy="502920"/>
          </a:xfrm>
          <a:prstGeom prst="ellipse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89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416552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5B4FE5"/>
                </a:solidFill>
                <a:latin typeface="Calibri"/>
              </a:rPr>
              <a:t>Validacion y XAI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782312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Garantizar la interpretabilidad de las recomendaciones mediante tecnicas de Inteligencia Artificial Explicable.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4160520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3640" y="4389120"/>
            <a:ext cx="502920" cy="502920"/>
          </a:xfrm>
          <a:prstGeom prst="ellipse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389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416552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5B4FE5"/>
                </a:solidFill>
                <a:latin typeface="Calibri"/>
              </a:rPr>
              <a:t>Prototipo Estrategico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782312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Desarrollar una herramienta visual de apoyo para la toma de decisiones basada en los perfiles obtenidos.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METODOLOGIA (ACTUALIZADA)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De la propuesta a la ejecucion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47E8C"/>
                </a:solidFill>
                <a:latin typeface="Calibri"/>
              </a:rPr>
              <a:t>6 etapas ya ejecutadas -- notebooks 01 a 07 del repositorio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1635709" cy="914400"/>
          </a:xfrm>
          <a:prstGeom prst="roundRect">
            <a:avLst>
              <a:gd name="adj" fmla="val 35000"/>
            </a:avLst>
          </a:prstGeom>
          <a:solidFill>
            <a:srgbClr val="2A2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EXTRACCION
(19 fuentes)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56917" y="2267711"/>
            <a:ext cx="201168" cy="120700"/>
          </a:xfrm>
          <a:prstGeom prst="rightArrow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12949" y="1874519"/>
            <a:ext cx="1635709" cy="914400"/>
          </a:xfrm>
          <a:prstGeom prst="roundRect">
            <a:avLst>
              <a:gd name="adj" fmla="val 35000"/>
            </a:avLst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PROCESAMIENTO
(limpieza + features)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6946" y="2267711"/>
            <a:ext cx="201168" cy="120700"/>
          </a:xfrm>
          <a:prstGeom prst="rightArrow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2978" y="1874519"/>
            <a:ext cx="1635709" cy="914400"/>
          </a:xfrm>
          <a:prstGeom prst="roundRect">
            <a:avLst>
              <a:gd name="adj" fmla="val 3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PREPARACION
(encoding + escalado)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76975" y="2267711"/>
            <a:ext cx="201168" cy="120700"/>
          </a:xfrm>
          <a:prstGeom prst="rightArrow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3007" y="1874519"/>
            <a:ext cx="1635709" cy="914400"/>
          </a:xfrm>
          <a:prstGeom prst="roundRect">
            <a:avLst>
              <a:gd name="adj" fmla="val 35000"/>
            </a:avLst>
          </a:prstGeom>
          <a:solidFill>
            <a:srgbClr val="E0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MODELADO
(K-Means K=5)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87004" y="2267711"/>
            <a:ext cx="201168" cy="120700"/>
          </a:xfrm>
          <a:prstGeom prst="rightArrow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3036" y="1874519"/>
            <a:ext cx="1635709" cy="914400"/>
          </a:xfrm>
          <a:prstGeom prst="roundRect">
            <a:avLst>
              <a:gd name="adj" fmla="val 35000"/>
            </a:avLst>
          </a:prstGeom>
          <a:solidFill>
            <a:srgbClr val="C9A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EXPLICABILIDAD
(caracterizacion + embeddings)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797033" y="2267711"/>
            <a:ext cx="201168" cy="120700"/>
          </a:xfrm>
          <a:prstGeom prst="rightArrow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3065" y="1874519"/>
            <a:ext cx="1635709" cy="914400"/>
          </a:xfrm>
          <a:prstGeom prst="roundRect">
            <a:avLst>
              <a:gd name="adj" fmla="val 3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PROTOTIPO
(dashboard Streamlit)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063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233"/>
                </a:solidFill>
                <a:latin typeface="Calibri"/>
              </a:rPr>
              <a:t>Que cambio frente a la propuesta original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29000"/>
            <a:ext cx="5486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5B4FE5"/>
                </a:solidFill>
                <a:latin typeface="Calibri"/>
              </a:rPr>
              <a:t>●  </a:t>
            </a:r>
            <a:r>
              <a:rPr sz="1150" b="1">
                <a:solidFill>
                  <a:srgbClr val="1B2233"/>
                </a:solidFill>
                <a:latin typeface="Calibri"/>
              </a:rPr>
              <a:t>Extraccion: </a:t>
            </a:r>
            <a:r>
              <a:rPr sz="1150">
                <a:solidFill>
                  <a:srgbClr val="3F4758"/>
                </a:solidFill>
                <a:latin typeface="Calibri"/>
              </a:rPr>
              <a:t>no se uso DB2 ni servicios REST; se trabajo con 19 exportaciones institucionales (CSV) unidas por IDPERSONA.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5B4FE5"/>
                </a:solidFill>
                <a:latin typeface="Calibri"/>
              </a:rPr>
              <a:t>●  </a:t>
            </a:r>
            <a:r>
              <a:rPr sz="1150" b="1">
                <a:solidFill>
                  <a:srgbClr val="1B2233"/>
                </a:solidFill>
                <a:latin typeface="Calibri"/>
              </a:rPr>
              <a:t>Reduccion de dimensionalidad: </a:t>
            </a:r>
            <a:r>
              <a:rPr sz="1150">
                <a:solidFill>
                  <a:srgbClr val="3F4758"/>
                </a:solidFill>
                <a:latin typeface="Calibri"/>
              </a:rPr>
              <a:t>no fue necesaria; se opto por encoding + log1p + escalamiento directo sobre 85 caracteristicas.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5B4FE5"/>
                </a:solidFill>
                <a:latin typeface="Calibri"/>
              </a:rPr>
              <a:t>●  </a:t>
            </a:r>
            <a:r>
              <a:rPr sz="1150" b="1">
                <a:solidFill>
                  <a:srgbClr val="1B2233"/>
                </a:solidFill>
                <a:latin typeface="Calibri"/>
              </a:rPr>
              <a:t>Modelado: </a:t>
            </a:r>
            <a:r>
              <a:rPr sz="1150">
                <a:solidFill>
                  <a:srgbClr val="3F4758"/>
                </a:solidFill>
                <a:latin typeface="Calibri"/>
              </a:rPr>
              <a:t>se probaron K-Means (K=2-12), jerarquico Ward, DBSCAN y HDBSCAN; DBSCAN/HDBSCAN se descartaron por dejar &gt;90% de ruido en alta dimensionalidad dispersa.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50" b="1">
                <a:solidFill>
                  <a:srgbClr val="5B4FE5"/>
                </a:solidFill>
                <a:latin typeface="Calibri"/>
              </a:rPr>
              <a:t>●  </a:t>
            </a:r>
            <a:r>
              <a:rPr sz="1150" b="1">
                <a:solidFill>
                  <a:srgbClr val="1B2233"/>
                </a:solidFill>
                <a:latin typeface="Calibri"/>
              </a:rPr>
              <a:t>Explicabilidad: </a:t>
            </a:r>
            <a:r>
              <a:rPr sz="1150">
                <a:solidFill>
                  <a:srgbClr val="3F4758"/>
                </a:solidFill>
                <a:latin typeface="Calibri"/>
              </a:rPr>
              <a:t>no se aplico SHAP/LIME; se uso caracterizacion por diferencia contra la mediana institucional (mas directa e interpretable para este tipo de variables).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06324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233"/>
                </a:solidFill>
                <a:latin typeface="Calibri"/>
              </a:rPr>
              <a:t>Resultado de la cadena completa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42900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538728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B4FE5"/>
                </a:solidFill>
                <a:latin typeface="Calibri"/>
              </a:rPr>
              <a:t>2.213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251960"/>
            <a:ext cx="1545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personas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integradas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42900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3538728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B4FE5"/>
                </a:solidFill>
                <a:latin typeface="Calibri"/>
              </a:rP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4251960"/>
            <a:ext cx="1545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variables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de modelado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1240" y="3429000"/>
            <a:ext cx="1691640" cy="128016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3538728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B4FE5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4392" y="4251960"/>
            <a:ext cx="1545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perfiles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descubiertos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89204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747E8C"/>
                </a:solidFill>
                <a:latin typeface="Calibri"/>
              </a:rPr>
              <a:t>Las decisiones tecnicas (modelo final, embeddings, arquitectura del dashboard) estan documentadas en context/DECISION_LOG.md (DEC-001, DEC-002, DEC-003) con su justificacion y alternativas evaluadas.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ESTADO DE AVANCE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Las 4 fases del proyecto, 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11185855" cy="1033272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233"/>
                </a:solidFill>
                <a:latin typeface="Calibri"/>
              </a:rPr>
              <a:t>Fase 1 -- Extraccion e integracion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7863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19 fuentes institucionales unidas por IDPERSONA -&gt; 2.213 personas en una sola tabla.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51415" y="1856232"/>
            <a:ext cx="1508760" cy="365760"/>
          </a:xfrm>
          <a:prstGeom prst="roundRect">
            <a:avLst>
              <a:gd name="adj" fmla="val 3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COMPLETADA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62072"/>
            <a:ext cx="11185855" cy="1033272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80944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233"/>
                </a:solidFill>
                <a:latin typeface="Calibri"/>
              </a:rPr>
              <a:t>Fase 2 -- Limpieza, transformacion y 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7863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85 caracteristicas por persona; matriz final de 100 variables (encoding + log1p + escalamiento), 0 nulos.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51415" y="3026664"/>
            <a:ext cx="1508760" cy="365760"/>
          </a:xfrm>
          <a:prstGeom prst="roundRect">
            <a:avLst>
              <a:gd name="adj" fmla="val 3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COMPLETADA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32504"/>
            <a:ext cx="11185855" cy="1033272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51376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233"/>
                </a:solidFill>
                <a:latin typeface="Calibri"/>
              </a:rPr>
              <a:t>Fase 3 -- Analisis exploratorio y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9704"/>
            <a:ext cx="7863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K-Means K=5 seleccionado tras comparar 4 algoritmos; 5 perfiles institucionales caracterizados; embeddings de texto como capa complementaria.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51415" y="4197096"/>
            <a:ext cx="1508760" cy="365760"/>
          </a:xfrm>
          <a:prstGeom prst="roundRect">
            <a:avLst>
              <a:gd name="adj" fmla="val 3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COMPLETADA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202936"/>
            <a:ext cx="11185855" cy="1033272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21808"/>
            <a:ext cx="7863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233"/>
                </a:solidFill>
                <a:latin typeface="Calibri"/>
              </a:rPr>
              <a:t>Fase 4 -- Validacion e implementacion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0136"/>
            <a:ext cx="7863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Prototipo dashboard (Streamlit) funcional con 5 modulos. Pendiente: validacion cualitativa formal con expertos institucionales y ajuste con su retroalimentacion.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51415" y="5367528"/>
            <a:ext cx="1508760" cy="365760"/>
          </a:xfrm>
          <a:prstGeom prst="roundRect">
            <a:avLst>
              <a:gd name="adj" fmla="val 35000"/>
            </a:avLst>
          </a:prstGeom>
          <a:solidFill>
            <a:srgbClr val="D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EN CURSO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Fuente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47E8C"/>
                </a:solidFill>
                <a:latin typeface="Calibri"/>
              </a:rPr>
              <a:t>19 archivos institucionales agrupados en 9 dominios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783080"/>
          <a:ext cx="11155680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3108960"/>
                <a:gridCol w="1828800"/>
                <a:gridCol w="1188720"/>
                <a:gridCol w="2286000"/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Dominio</a:t>
                      </a:r>
                    </a:p>
                  </a:txBody>
                  <a:tcPr anchor="ctr" marT="38100" marB="38100">
                    <a:solidFill>
                      <a:srgbClr val="5B4F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Archivos fuente</a:t>
                      </a:r>
                    </a:p>
                  </a:txBody>
                  <a:tcPr anchor="ctr" marT="38100" marB="38100">
                    <a:solidFill>
                      <a:srgbClr val="5B4F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Metodo de acceso</a:t>
                      </a:r>
                    </a:p>
                  </a:txBody>
                  <a:tcPr anchor="ctr" marT="38100" marB="38100">
                    <a:solidFill>
                      <a:srgbClr val="5B4F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anchor="ctr" marT="38100" marB="38100">
                    <a:solidFill>
                      <a:srgbClr val="5B4F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Volumen (registros)</a:t>
                      </a:r>
                    </a:p>
                  </a:txBody>
                  <a:tcPr anchor="ctr" marT="38100" marB="38100">
                    <a:solidFill>
                      <a:srgbClr val="5B4FE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Datos personales y contractuales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datos_personales_5anios, historial_laboral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Exportacion CSV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Integrado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2.213 / 73.921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Formacion academica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reporte_titulaciones_educacion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Exportacion CSV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Integrado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74.561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Docencia y evaluacion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carga_academica, heteroevaluacion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Exportacion CSV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Integrado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43.701 / 76.645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Carga politecnica (gestion)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carga_politecnica, catalogo_actividades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Exportacion CSV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Integrado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58.209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Capacitacion y certificacion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capacitaciones_todas, certificados_todos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Exportacion CSV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Integrado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64.563 / 5.096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Investigacion, vinculacion y grado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proy_investigacion, proy_vinculacion, proyecto_grado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Exportacion CSV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Integrado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7.254 / 2.666 / 8.170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Publicaciones y ponencias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publicaciones, ponentes_todos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Exportacion CSV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Integrado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9.440 / 1.257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Idiomas y reconocimientos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idiomas_personas, mencion_honor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Exportacion CSV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Integrado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4.137 / 5.457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Experiencia externa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experiencia_externa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Exportacion CSV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Integrado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F4758"/>
                          </a:solidFill>
                          <a:latin typeface="Calibri"/>
                        </a:rPr>
                        <a:t>13.818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Variables y caracteristicas construidas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47E8C"/>
                </a:solidFill>
                <a:latin typeface="Calibri"/>
              </a:rPr>
              <a:t>85 caracteristicas por persona (feature_dictionary.csv) -&gt; 100 variables tras codificacion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74519"/>
          <a:ext cx="7863840" cy="4343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31920"/>
                <a:gridCol w="1005840"/>
                <a:gridCol w="2926080"/>
              </a:tblGrid>
              <a:tr h="33410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Dominio</a:t>
                      </a:r>
                    </a:p>
                  </a:txBody>
                  <a:tcPr anchor="ctr" marT="38100" marB="38100">
                    <a:solidFill>
                      <a:srgbClr val="5B4F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N. variables</a:t>
                      </a:r>
                    </a:p>
                  </a:txBody>
                  <a:tcPr anchor="ctr" marT="38100" marB="38100">
                    <a:solidFill>
                      <a:srgbClr val="5B4F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anchor="ctr" marT="38100" marB="38100">
                    <a:solidFill>
                      <a:srgbClr val="5B4FE5"/>
                    </a:solidFill>
                  </a:tcPr>
                </a:tc>
              </a:tr>
              <a:tr h="334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Trayectoria laboral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ANTIGUEDAD_EFECTIVA_ANIOS, N_CONTRATOS_TOTAL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34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Investigacion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NUM_PROYECTOS_INVESTIGACION, NUM_PROYECTOS_COMO_DIRECTOR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</a:tr>
              <a:tr h="334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Capacitacion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NUM_CAPACITACIONES, SUMA_DURACION_CAPACITACIONES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34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Carga politecnica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NUM_ACTIVIDADES_POLITECNICAS, TOTAL_HORAS_POLITECNICAS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</a:tr>
              <a:tr h="334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Publicaciones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NUM_PUBLICACIONES, NUM_PUBLICACIONES_INDEXADAS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34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Formacion academica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NUM_TITULACIONES, NIVEL_ACADEMICO_MAXIMO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</a:tr>
              <a:tr h="334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Docencia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TOTAL_HORAS_DOCENCIA, NUM_CURSOS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34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Experiencia externa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NUM_EXPERIENCIAS_EXTERNAS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</a:tr>
              <a:tr h="334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Evaluacion docente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PROMEDIO_HETEROEVALUACION, COBERTURA_EVALUACION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34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Vinculacion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NUM_PROYECTOS_VINCULACION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</a:tr>
              <a:tr h="334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Idiomas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NUM_IDIOMAS, NUM_IDIOMAS_NO_NATIVOS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3411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Certificaciones / Ponencias / Reconocimientos / Proy. de grado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2 c/u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NUM_CERTIFICACIONES, NUM_PONENCIAS, NUM_RECONOCIMIENTOS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052560" y="1874519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15 columnas descartadas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194560"/>
            <a:ext cx="2651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F4758"/>
                </a:solidFill>
                <a:latin typeface="Calibri"/>
              </a:rPr>
              <a:t>Por ser demograficas (sexo, edad, origen) o redundantes con otra variable ya incluida (features_excluded.csv).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3749039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3858767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B4FE5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4480559"/>
            <a:ext cx="25054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excluidas por alta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cardinalidad (cargo,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unidad actual)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0749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84648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B4FE5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5760720"/>
            <a:ext cx="25054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nulos / infinitos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en la matriz final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EDA (DATOS REALES)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Quien compone la poblacion de estudio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47E8C"/>
                </a:solidFill>
                <a:latin typeface="Calibri"/>
              </a:rPr>
              <a:t>Ya no se trata de candidatos a seleccionar: es el personal vigente/contratado en los ultimos 5 anios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9280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B4FE5"/>
                </a:solidFill>
                <a:latin typeface="Calibri"/>
              </a:rPr>
              <a:t>2.213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69748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personas en la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poblacion de estudio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918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0156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B4FE5"/>
                </a:solidFill>
                <a:latin typeface="Calibri"/>
              </a:rPr>
              <a:t>76.645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4206240"/>
            <a:ext cx="2231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registros de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heteroevaluacion docente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(vs. 2.213 personas)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063240" y="1783080"/>
          <a:ext cx="429768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589520" y="1783080"/>
            <a:ext cx="4069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5B4FE5"/>
                </a:solidFill>
                <a:latin typeface="Calibri"/>
              </a:rPr>
              <a:t>●  </a:t>
            </a:r>
            <a:r>
              <a:rPr sz="1100" b="1">
                <a:solidFill>
                  <a:srgbClr val="1B2233"/>
                </a:solidFill>
                <a:latin typeface="Calibri"/>
              </a:rPr>
              <a:t>Roles mixtos. </a:t>
            </a:r>
            <a:r>
              <a:rPr sz="1100">
                <a:solidFill>
                  <a:srgbClr val="3F4758"/>
                </a:solidFill>
                <a:latin typeface="Calibri"/>
              </a:rPr>
              <a:t>39,6% del personal tiene simultaneamente actividad docente y administrativa registrada en su historial (ES_DOCENTE_ADMIN_MIXTO).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5B4FE5"/>
                </a:solidFill>
                <a:latin typeface="Calibri"/>
              </a:rPr>
              <a:t>●  </a:t>
            </a:r>
            <a:r>
              <a:rPr sz="1100" b="1">
                <a:solidFill>
                  <a:srgbClr val="1B2233"/>
                </a:solidFill>
                <a:latin typeface="Calibri"/>
              </a:rPr>
              <a:t>Vigencia. </a:t>
            </a:r>
            <a:r>
              <a:rPr sz="1100">
                <a:solidFill>
                  <a:srgbClr val="3F4758"/>
                </a:solidFill>
                <a:latin typeface="Calibri"/>
              </a:rPr>
              <a:t>Solo 30,9% esta vigente actualmente; el resto son trayectorias historicas dentro de la ventana de 5 anios.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5B4FE5"/>
                </a:solidFill>
                <a:latin typeface="Calibri"/>
              </a:rPr>
              <a:t>●  </a:t>
            </a:r>
            <a:r>
              <a:rPr sz="1100" b="1">
                <a:solidFill>
                  <a:srgbClr val="1B2233"/>
                </a:solidFill>
                <a:latin typeface="Calibri"/>
              </a:rPr>
              <a:t>Nivel academico. </a:t>
            </a:r>
            <a:r>
              <a:rPr sz="1100">
                <a:solidFill>
                  <a:srgbClr val="3F4758"/>
                </a:solidFill>
                <a:latin typeface="Calibri"/>
              </a:rPr>
              <a:t>69,6% tiene cuarto nivel como maximo titulo, 27,1% tercer nivel.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074920"/>
            <a:ext cx="111858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747E8C"/>
                </a:solidFill>
                <a:latin typeface="Calibri"/>
              </a:rPr>
              <a:t>La fuente mas voluminosa es heteroevaluacion docente (76.645 registros individuales frente a apenas 2.213 personas) -- ejemplo de por que la integracion a nivel de persona requiere agregacion cuidadosa (conteos, sumas y proporciones), no un JOIN directo.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EDA (DATOS REALES)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Regimen laboral y formacion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11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1691640"/>
          <a:ext cx="53949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98348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747E8C"/>
                </a:solidFill>
                <a:latin typeface="Calibri"/>
              </a:rPr>
              <a:t>Distribucion por regimen laboral actual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309360" y="1691640"/>
          <a:ext cx="534924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09360" y="498348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747E8C"/>
                </a:solidFill>
                <a:latin typeface="Calibri"/>
              </a:rPr>
              <a:t>Nivel academico maximo (%)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406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747E8C"/>
                </a:solidFill>
                <a:latin typeface="Calibri"/>
              </a:rPr>
              <a:t>62,2% del personal esta bajo regimen LOES (docente universitario); 24,5% bajo LOSEP (servicio publico, predominantemente administrativo). Estas variables alimentan la matriz de modelado, no se usan como filtro previo.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CLUSTERING (NOTEBOOK 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Cinco perfiles institucionales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1600200" cy="109728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0136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B4FE5"/>
                </a:solidFill>
                <a:latin typeface="Calibri"/>
              </a:rPr>
              <a:t>0.117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331720"/>
            <a:ext cx="14538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Silhouette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80360"/>
            <a:ext cx="1600200" cy="109728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9008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B4FE5"/>
                </a:solidFill>
                <a:latin typeface="Calibri"/>
              </a:rPr>
              <a:t>0.99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520440"/>
            <a:ext cx="14538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ARI entre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semillas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69080"/>
            <a:ext cx="1600200" cy="1097280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7880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5B4FE5"/>
                </a:solidFill>
                <a:latin typeface="Calibri"/>
              </a:rPr>
              <a:t>0.66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709160"/>
            <a:ext cx="14538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ARI vs.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F4758"/>
                </a:solidFill>
                <a:latin typeface="Calibri"/>
              </a:rPr>
              <a:t>jerarquico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691640"/>
            <a:ext cx="374903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F4758"/>
                </a:solidFill>
                <a:latin typeface="Calibri"/>
              </a:rPr>
              <a:t>Modelo final: K-Means, K=5 (n_init=10, random_state=42), elegido por mayor estabilidad entre semillas, mejor acuerdo con clustering jerarquico, tamanios balanceados y ser el primer K que separa perfiles sustantivamente distintos.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160520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747E8C"/>
                </a:solidFill>
                <a:latin typeface="Calibri"/>
              </a:rPr>
              <a:t>Los 5 perfiles no son categorias institucionales oficiales: son una sintesis interpretativa a partir de las variables que mas distinguen a cada grupo.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691640"/>
            <a:ext cx="5623560" cy="804672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1810512"/>
            <a:ext cx="868680" cy="548640"/>
          </a:xfrm>
          <a:prstGeom prst="roundRect">
            <a:avLst>
              <a:gd name="adj" fmla="val 30000"/>
            </a:avLst>
          </a:prstGeom>
          <a:solidFill>
            <a:srgbClr val="2A2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810512"/>
            <a:ext cx="868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21,8%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1764792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A226B"/>
                </a:solidFill>
                <a:latin typeface="Calibri"/>
              </a:rPr>
              <a:t>Perfil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011680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233"/>
                </a:solidFill>
                <a:latin typeface="Calibri"/>
              </a:rPr>
              <a:t>Docente de trayectoria historica moderada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2587752"/>
            <a:ext cx="5623560" cy="804672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2706624"/>
            <a:ext cx="868680" cy="548640"/>
          </a:xfrm>
          <a:prstGeom prst="roundRect">
            <a:avLst>
              <a:gd name="adj" fmla="val 30000"/>
            </a:avLst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706624"/>
            <a:ext cx="868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26,6%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660904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4FE5"/>
                </a:solidFill>
                <a:latin typeface="Calibri"/>
              </a:rPr>
              <a:t>Perfil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907792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233"/>
                </a:solidFill>
                <a:latin typeface="Calibri"/>
              </a:rPr>
              <a:t>Administrativo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483864"/>
            <a:ext cx="5623560" cy="804672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72200" y="3602736"/>
            <a:ext cx="868680" cy="548640"/>
          </a:xfrm>
          <a:prstGeom prst="roundRect">
            <a:avLst>
              <a:gd name="adj" fmla="val 3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602736"/>
            <a:ext cx="868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11,8%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557016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4B8A6"/>
                </a:solidFill>
                <a:latin typeface="Calibri"/>
              </a:rPr>
              <a:t>Perfil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803904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233"/>
                </a:solidFill>
                <a:latin typeface="Calibri"/>
              </a:rPr>
              <a:t>Alta produccion academica e investigativa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0" y="4379976"/>
            <a:ext cx="5623560" cy="804672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2200" y="4498848"/>
            <a:ext cx="868680" cy="548640"/>
          </a:xfrm>
          <a:prstGeom prst="roundRect">
            <a:avLst>
              <a:gd name="adj" fmla="val 30000"/>
            </a:avLst>
          </a:prstGeom>
          <a:solidFill>
            <a:srgbClr val="E0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498848"/>
            <a:ext cx="868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14,7%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453128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07A3B"/>
                </a:solidFill>
                <a:latin typeface="Calibri"/>
              </a:rPr>
              <a:t>Perfil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700016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233"/>
                </a:solidFill>
                <a:latin typeface="Calibri"/>
              </a:rPr>
              <a:t>Alta carga docente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5276088"/>
            <a:ext cx="5623560" cy="804672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72200" y="5394960"/>
            <a:ext cx="868680" cy="5486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5394960"/>
            <a:ext cx="868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25,0%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349240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B82F6"/>
                </a:solidFill>
                <a:latin typeface="Calibri"/>
              </a:rPr>
              <a:t>Perfil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559612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233"/>
                </a:solidFill>
                <a:latin typeface="Calibri"/>
              </a:rPr>
              <a:t>Ingreso reciente / trayectoria corta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MODELADO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Algoritmos evaluados y modelo elegido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97480" cy="3749039"/>
          </a:xfrm>
          <a:prstGeom prst="roundRect">
            <a:avLst>
              <a:gd name="adj" fmla="val 8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16A34A"/>
                </a:solidFill>
                <a:latin typeface="Calibr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233"/>
                </a:solidFill>
                <a:latin typeface="Calibri"/>
              </a:rPr>
              <a:t>K-Means (K=5)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23317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3F4758"/>
                </a:solidFill>
                <a:latin typeface="Calibri"/>
              </a:rPr>
              <a:t>ELEGIDO. Mejor estabilidad entre semillas (ARI=0,99), mayor acuerdo con jerarquico y tamanios balanceados.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783080"/>
            <a:ext cx="2697480" cy="3749039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92024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747E8C"/>
                </a:solidFill>
                <a:latin typeface="Calibri"/>
              </a:rPr>
              <a:t>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14600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233"/>
                </a:solidFill>
                <a:latin typeface="Calibri"/>
              </a:rPr>
              <a:t>Jerarquico (Ward)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63240"/>
            <a:ext cx="23317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3F4758"/>
                </a:solidFill>
                <a:latin typeface="Calibri"/>
              </a:rPr>
              <a:t>Evaluado K=3-7. Usado como contraste de estabilidad (ARI=0,66 vs. K-Means); no elegido como modelo final.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2697480" cy="3749039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92024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C03B3B"/>
                </a:solidFill>
                <a:latin typeface="Calibri"/>
              </a:rPr>
              <a:t>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14600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233"/>
                </a:solidFill>
                <a:latin typeface="Calibri"/>
              </a:rPr>
              <a:t>DBSCAN / HDBSCAN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63240"/>
            <a:ext cx="23317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3F4758"/>
                </a:solidFill>
                <a:latin typeface="Calibri"/>
              </a:rPr>
              <a:t>Descartados: en 100 variables dispersas dejan &gt;90% de registros como ruido (eps/min_size bajos) o colapsan en un solo cluster (valores altos).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783080"/>
            <a:ext cx="2697480" cy="3749039"/>
          </a:xfrm>
          <a:prstGeom prst="roundRect">
            <a:avLst>
              <a:gd name="adj" fmla="val 8000"/>
            </a:avLst>
          </a:prstGeom>
          <a:solidFill>
            <a:srgbClr val="F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92024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3B82F6"/>
                </a:solidFill>
                <a:latin typeface="Calibri"/>
              </a:rPr>
              <a:t>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514600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233"/>
                </a:solidFill>
                <a:latin typeface="Calibri"/>
              </a:rPr>
              <a:t>K-Means sobre embeddings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063240"/>
            <a:ext cx="23317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3F4758"/>
                </a:solidFill>
                <a:latin typeface="Calibri"/>
              </a:rPr>
              <a:t>Explorado en 06_embeddings sobre el texto profesional (384 dim). Complementario, no fusionado: ARI=0,116 frente al clustering estructural.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PROTOTIPO (NOTEBOOK 07_DASHBOARD)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Del analisis tecnico a una herramienta de exploracion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14</a:t>
            </a:r>
          </a:p>
        </p:txBody>
      </p:sp>
      <p:pic>
        <p:nvPicPr>
          <p:cNvPr id="9" name="Picture 8" descr="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852160" cy="42062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75488" y="1664208"/>
            <a:ext cx="5907024" cy="4261104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E3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7103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747E8C"/>
                </a:solidFill>
                <a:latin typeface="Calibri"/>
              </a:rPr>
              <a:t>Captura real -- notebooks/07_dashboard/app.py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916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233"/>
                </a:solidFill>
                <a:latin typeface="Calibri"/>
              </a:rPr>
              <a:t>Funcionalidades implementadas (5 pestanias)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5B4FE5"/>
                </a:solidFill>
                <a:latin typeface="Calibri"/>
              </a:rPr>
              <a:t>●  </a:t>
            </a:r>
            <a:r>
              <a:rPr sz="1100" b="1">
                <a:solidFill>
                  <a:srgbClr val="1B2233"/>
                </a:solidFill>
                <a:latin typeface="Calibri"/>
              </a:rPr>
              <a:t>Resumen general -- </a:t>
            </a:r>
            <a:r>
              <a:rPr sz="1100">
                <a:solidFill>
                  <a:srgbClr val="3F4758"/>
                </a:solidFill>
                <a:latin typeface="Calibri"/>
              </a:rPr>
              <a:t>distribucion de personas por perfil y composicion docente/administrativo.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5B4FE5"/>
                </a:solidFill>
                <a:latin typeface="Calibri"/>
              </a:rPr>
              <a:t>●  </a:t>
            </a:r>
            <a:r>
              <a:rPr sz="1100" b="1">
                <a:solidFill>
                  <a:srgbClr val="1B2233"/>
                </a:solidFill>
                <a:latin typeface="Calibri"/>
              </a:rPr>
              <a:t>Explorar perfiles -- </a:t>
            </a:r>
            <a:r>
              <a:rPr sz="1100">
                <a:solidFill>
                  <a:srgbClr val="3F4758"/>
                </a:solidFill>
                <a:latin typeface="Calibri"/>
              </a:rPr>
              <a:t>variables mas distintivas de cada perfil vs. la mediana institucional.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5B4FE5"/>
                </a:solidFill>
                <a:latin typeface="Calibri"/>
              </a:rPr>
              <a:t>●  </a:t>
            </a:r>
            <a:r>
              <a:rPr sz="1100" b="1">
                <a:solidFill>
                  <a:srgbClr val="1B2233"/>
                </a:solidFill>
                <a:latin typeface="Calibri"/>
              </a:rPr>
              <a:t>Buscar persona -- </a:t>
            </a:r>
            <a:r>
              <a:rPr sz="1100">
                <a:solidFill>
                  <a:srgbClr val="3F4758"/>
                </a:solidFill>
                <a:latin typeface="Calibri"/>
              </a:rPr>
              <a:t>ficha individual con comparacion por percentil (radar) frente a la institucion.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5B4FE5"/>
                </a:solidFill>
                <a:latin typeface="Calibri"/>
              </a:rPr>
              <a:t>●  </a:t>
            </a:r>
            <a:r>
              <a:rPr sz="1100" b="1">
                <a:solidFill>
                  <a:srgbClr val="1B2233"/>
                </a:solidFill>
                <a:latin typeface="Calibri"/>
              </a:rPr>
              <a:t>Formar equipos/comisiones -- </a:t>
            </a:r>
            <a:r>
              <a:rPr sz="1100">
                <a:solidFill>
                  <a:srgbClr val="3F4758"/>
                </a:solidFill>
                <a:latin typeface="Calibri"/>
              </a:rPr>
              <a:t>filtros profesionales (sin sexo ni edad) y descarga en CSV.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>
                <a:solidFill>
                  <a:srgbClr val="5B4FE5"/>
                </a:solidFill>
                <a:latin typeface="Calibri"/>
              </a:rPr>
              <a:t>●  </a:t>
            </a:r>
            <a:r>
              <a:rPr sz="1100" b="1">
                <a:solidFill>
                  <a:srgbClr val="1B2233"/>
                </a:solidFill>
                <a:latin typeface="Calibri"/>
              </a:rPr>
              <a:t>Busqueda semantica -- </a:t>
            </a:r>
            <a:r>
              <a:rPr sz="1100">
                <a:solidFill>
                  <a:srgbClr val="3F4758"/>
                </a:solidFill>
                <a:latin typeface="Calibri"/>
              </a:rPr>
              <a:t>consulta en lenguaje natural sobre los embeddings de texto.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6035040"/>
            <a:ext cx="2017715" cy="502920"/>
          </a:xfrm>
          <a:prstGeom prst="roundRect">
            <a:avLst>
              <a:gd name="adj" fmla="val 35000"/>
            </a:avLst>
          </a:prstGeom>
          <a:solidFill>
            <a:srgbClr val="2A2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38923" y="6222492"/>
            <a:ext cx="201168" cy="120700"/>
          </a:xfrm>
          <a:prstGeom prst="rightArrow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94955" y="6035040"/>
            <a:ext cx="2017715" cy="502920"/>
          </a:xfrm>
          <a:prstGeom prst="roundRect">
            <a:avLst>
              <a:gd name="adj" fmla="val 35000"/>
            </a:avLst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30958" y="6222492"/>
            <a:ext cx="201168" cy="120700"/>
          </a:xfrm>
          <a:prstGeom prst="rightArrow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6990" y="6035040"/>
            <a:ext cx="2017715" cy="502920"/>
          </a:xfrm>
          <a:prstGeom prst="roundRect">
            <a:avLst>
              <a:gd name="adj" fmla="val 3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CLUSTERS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22993" y="6222492"/>
            <a:ext cx="201168" cy="120700"/>
          </a:xfrm>
          <a:prstGeom prst="rightArrow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79025" y="6035040"/>
            <a:ext cx="2017715" cy="502920"/>
          </a:xfrm>
          <a:prstGeom prst="roundRect">
            <a:avLst>
              <a:gd name="adj" fmla="val 35000"/>
            </a:avLst>
          </a:prstGeom>
          <a:solidFill>
            <a:srgbClr val="E0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PERFILES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15028" y="6222492"/>
            <a:ext cx="201168" cy="120700"/>
          </a:xfrm>
          <a:prstGeom prst="rightArrow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71060" y="6035040"/>
            <a:ext cx="2017715" cy="502920"/>
          </a:xfrm>
          <a:prstGeom prst="roundRect">
            <a:avLst>
              <a:gd name="adj" fmla="val 3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Riesgos detectados y mitigacion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55680" cy="4663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4572000"/>
                <a:gridCol w="4480560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Riesgo</a:t>
                      </a:r>
                    </a:p>
                  </a:txBody>
                  <a:tcPr anchor="ctr" marT="38100" marB="38100">
                    <a:solidFill>
                      <a:srgbClr val="5B4F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Descripcion</a:t>
                      </a:r>
                    </a:p>
                  </a:txBody>
                  <a:tcPr anchor="ctr" marT="38100" marB="38100">
                    <a:solidFill>
                      <a:srgbClr val="5B4F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Mitigacion actual / plan</a:t>
                      </a:r>
                    </a:p>
                  </a:txBody>
                  <a:tcPr anchor="ctr" marT="38100" marB="38100">
                    <a:solidFill>
                      <a:srgbClr val="5B4FE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Sesgo indirecto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Sexo, edad y origen se excluyeron, pero regimen laboral o unidad academica pueden actuar como proxy.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Exclusion explicita documentada (features_excluded.csv); validacion cualitativa con RRHH pendiente (Fase 4).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Clusters poco separados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Silhouette bajo (0,117): los 5 perfiles no son grupos totalmente distintos, sino un continuo.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Se reportan metricas de estabilidad (ARI=0,99/0,66) junto al resultado; perfiles presentados como sintesis interpretativa, no categorias oficiales.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Datos faltantes en variables clave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Hasta 50% de nulos en heteroevaluacion y 25% en dedicacion docente antes de imputar.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Imputacion documentada por mediana/moda (preprocessing_summary.csv); la incertidumbre no se oculta.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Uso indebido en decisiones sensibles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Riesgo de usar los perfiles para automatizar contratacion, promocion o asignacion sin criterio humano.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Principio de diseno del proyecto: apoyo a la decision, nunca decision automatica sobre personas.</a:t>
                      </a:r>
                    </a:p>
                  </a:txBody>
                  <a:tcPr anchor="ctr" marT="25400" marB="25400">
                    <a:solidFill>
                      <a:srgbClr val="F5F5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Privacidad y gobernanza de datos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Datos institucionales con informacion personal; el dashboard puede exponerse en red sin autenticacion.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F4758"/>
                          </a:solidFill>
                          <a:latin typeface="Calibri"/>
                        </a:rPr>
                        <a:t>Personas identificadas solo por IDPERSONA; se recomienda uso restringido a localhost. Falta autenticacion formal para un despliegue institucional real.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566928"/>
          </a:xfrm>
          <a:prstGeom prst="rect">
            <a:avLst/>
          </a:prstGeom>
          <a:solidFill>
            <a:srgbClr val="5B4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3891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B4FE5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233"/>
                </a:solidFill>
                <a:latin typeface="Calibri"/>
              </a:rPr>
              <a:t>Viabilidad -- de plan a hecho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5240"/>
          </a:xfrm>
          <a:prstGeom prst="rect">
            <a:avLst/>
          </a:prstGeom>
          <a:solidFill>
            <a:srgbClr val="E3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47E8C"/>
                </a:solidFill>
                <a:latin typeface="Calib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11858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1">
                <a:solidFill>
                  <a:srgbClr val="5B4FE5"/>
                </a:solidFill>
                <a:latin typeface="Calibri"/>
              </a:rPr>
              <a:t>●  </a:t>
            </a:r>
            <a:r>
              <a:rPr sz="1300" b="1">
                <a:solidFill>
                  <a:srgbClr val="1B2233"/>
                </a:solidFill>
                <a:latin typeface="Calibri"/>
              </a:rPr>
              <a:t>Disponibilidad de datos: </a:t>
            </a:r>
            <a:r>
              <a:rPr sz="1300">
                <a:solidFill>
                  <a:srgbClr val="3F4758"/>
                </a:solidFill>
                <a:latin typeface="Calibri"/>
              </a:rPr>
              <a:t>confirmada y ya utilizada. 19 archivos institucionales integrados, 2.213 personas con vista unica (no una promesa de acceso, sino datos ya integrados).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1">
                <a:solidFill>
                  <a:srgbClr val="5B4FE5"/>
                </a:solidFill>
                <a:latin typeface="Calibri"/>
              </a:rPr>
              <a:t>●  </a:t>
            </a:r>
            <a:r>
              <a:rPr sz="1300" b="1">
                <a:solidFill>
                  <a:srgbClr val="1B2233"/>
                </a:solidFill>
                <a:latin typeface="Calibri"/>
              </a:rPr>
              <a:t>Viabilidad tecnica: </a:t>
            </a:r>
            <a:r>
              <a:rPr sz="1300">
                <a:solidFill>
                  <a:srgbClr val="3F4758"/>
                </a:solidFill>
                <a:latin typeface="Calibri"/>
              </a:rPr>
              <a:t>demostrada. Pipeline de ETL, feature engineering, embeddings de texto (NLP) y clustering ya implementados y ejecutandose sobre datos reales.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00" b="1">
                <a:solidFill>
                  <a:srgbClr val="5B4FE5"/>
                </a:solidFill>
                <a:latin typeface="Calibri"/>
              </a:rPr>
              <a:t>●  </a:t>
            </a:r>
            <a:r>
              <a:rPr sz="1300" b="1">
                <a:solidFill>
                  <a:srgbClr val="1B2233"/>
                </a:solidFill>
                <a:latin typeface="Calibri"/>
              </a:rPr>
              <a:t>Viabilidad operativa: </a:t>
            </a:r>
            <a:r>
              <a:rPr sz="1300">
                <a:solidFill>
                  <a:srgbClr val="3F4758"/>
                </a:solidFill>
                <a:latin typeface="Calibri"/>
              </a:rPr>
              <a:t>prototipo funcional (dashboard Streamlit) construido y probado. Paso siguiente: validacion cualitativa formal con expertos institucionales y ajuste con su retroalimentacion.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120640"/>
            <a:ext cx="11185855" cy="685800"/>
          </a:xfrm>
          <a:prstGeom prst="roundRect">
            <a:avLst>
              <a:gd name="adj" fmla="val 35000"/>
            </a:avLst>
          </a:prstGeom>
          <a:solidFill>
            <a:srgbClr val="2A2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La propuesta paso de ser un plan a ser un pipeline funcional: de datos institucionales dispersos a perfiles descubiertos y una herramienta de exploracion en uso.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