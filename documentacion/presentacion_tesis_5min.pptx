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pt-BR" sz="1300" b="1">
                <a:latin typeface="Calibri"/>
              </a:rPr>
              <a:t>Personas por perfil (n = 2.213)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Personas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A88A"/>
              </a:solidFill>
            </c:spPr>
            <c:extLst>
              <c:ext xmlns:c16="http://schemas.microsoft.com/office/drawing/2014/chart" uri="{C3380CC4-5D6E-409C-BE32-E72D297353CC}">
                <c16:uniqueId val="{00000001-66CA-4BDF-898E-8C79CC1E4D91}"/>
              </c:ext>
            </c:extLst>
          </c:dPt>
          <c:dPt>
            <c:idx val="1"/>
            <c:invertIfNegative val="1"/>
            <c:bubble3D val="0"/>
            <c:spPr>
              <a:solidFill>
                <a:srgbClr val="E07A3B"/>
              </a:solidFill>
            </c:spPr>
            <c:extLst>
              <c:ext xmlns:c16="http://schemas.microsoft.com/office/drawing/2014/chart" uri="{C3380CC4-5D6E-409C-BE32-E72D297353CC}">
                <c16:uniqueId val="{00000003-66CA-4BDF-898E-8C79CC1E4D91}"/>
              </c:ext>
            </c:extLst>
          </c:dPt>
          <c:dPt>
            <c:idx val="2"/>
            <c:invertIfNegative val="1"/>
            <c:bubble3D val="0"/>
            <c:spPr>
              <a:solidFill>
                <a:srgbClr val="1C3D5E"/>
              </a:solidFill>
            </c:spPr>
            <c:extLst>
              <c:ext xmlns:c16="http://schemas.microsoft.com/office/drawing/2014/chart" uri="{C3380CC4-5D6E-409C-BE32-E72D297353CC}">
                <c16:uniqueId val="{00000005-66CA-4BDF-898E-8C79CC1E4D91}"/>
              </c:ext>
            </c:extLst>
          </c:dPt>
          <c:dPt>
            <c:idx val="3"/>
            <c:invertIfNegative val="1"/>
            <c:bubble3D val="0"/>
            <c:spPr>
              <a:solidFill>
                <a:srgbClr val="C9A027"/>
              </a:solidFill>
            </c:spPr>
            <c:extLst>
              <c:ext xmlns:c16="http://schemas.microsoft.com/office/drawing/2014/chart" uri="{C3380CC4-5D6E-409C-BE32-E72D297353CC}">
                <c16:uniqueId val="{00000007-66CA-4BDF-898E-8C79CC1E4D91}"/>
              </c:ext>
            </c:extLst>
          </c:dPt>
          <c:dPt>
            <c:idx val="4"/>
            <c:invertIfNegative val="1"/>
            <c:bubble3D val="0"/>
            <c:spPr>
              <a:solidFill>
                <a:srgbClr val="8A5AB0"/>
              </a:solidFill>
            </c:spPr>
            <c:extLst>
              <c:ext xmlns:c16="http://schemas.microsoft.com/office/drawing/2014/chart" uri="{C3380CC4-5D6E-409C-BE32-E72D297353CC}">
                <c16:uniqueId val="{00000009-66CA-4BDF-898E-8C79CC1E4D91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Perfil 0</c:v>
                </c:pt>
                <c:pt idx="1">
                  <c:v>Perfil 1</c:v>
                </c:pt>
                <c:pt idx="2">
                  <c:v>Perfil 2</c:v>
                </c:pt>
                <c:pt idx="3">
                  <c:v>Perfil 3</c:v>
                </c:pt>
                <c:pt idx="4">
                  <c:v>Perfil 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483</c:v>
                </c:pt>
                <c:pt idx="1">
                  <c:v>588</c:v>
                </c:pt>
                <c:pt idx="2">
                  <c:v>262</c:v>
                </c:pt>
                <c:pt idx="3">
                  <c:v>326</c:v>
                </c:pt>
                <c:pt idx="4">
                  <c:v>554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6CA-4BDF-898E-8C79CC1E4D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05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Buenas tardes. Esta es una presentacion del avance de mi tesis: un sistema para generar</a:t>
            </a:r>
          </a:p>
          <a:p>
            <a:r>
              <a:t>perfiles del personal docente y administrativo de ESPOL, apoyado en clustering y en el</a:t>
            </a:r>
          </a:p>
          <a:p>
            <a:r>
              <a:t>procesamiento de su informacion academica y profesional, con el objetivo de apoyar la</a:t>
            </a:r>
          </a:p>
          <a:p>
            <a:r>
              <a:t>asignacion de tareas y otros procesos de gestion del talento. (~15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punto de partida es un problema concreto: la informacion de cada persona en ESPOL no</a:t>
            </a:r>
          </a:p>
          <a:p>
            <a:r>
              <a:t>vive en un solo lugar. Docencia, investigacion, capacitacion, experiencia laboral...</a:t>
            </a:r>
          </a:p>
          <a:p>
            <a:r>
              <a:t>cada dominio tiene su propio sistema. Para este proyecto integramos 19 fuentes de datos</a:t>
            </a:r>
          </a:p>
          <a:p>
            <a:r>
              <a:t>institucionales distintas, correspondientes a una poblacion de 2.213 personas que han</a:t>
            </a:r>
          </a:p>
          <a:p>
            <a:r>
              <a:t>estado contratadas o vigentes en los ultimos cinco anios. Como referencia de la escala de</a:t>
            </a:r>
          </a:p>
          <a:p>
            <a:r>
              <a:t>estos datos: solo la heteroevaluacion docente aporta mas de 76 mil registros individuales</a:t>
            </a:r>
          </a:p>
          <a:p>
            <a:r>
              <a:t>para esas 2.213 personas.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primer paso tecnico es pasar de 19 tablas independientes a una sola fila por persona.</a:t>
            </a:r>
          </a:p>
          <a:p>
            <a:r>
              <a:t>Usamos IDPERSONA como llave de integracion, tratamos los valores faltantes de forma</a:t>
            </a:r>
          </a:p>
          <a:p>
            <a:r>
              <a:t>explicita, y descartamos 11 columnas que eran demograficas -como sexo o edad- o</a:t>
            </a:r>
          </a:p>
          <a:p>
            <a:r>
              <a:t>redundantes con otra variable ya incluida, precisamente para no introducir sesgos en el</a:t>
            </a:r>
          </a:p>
          <a:p>
            <a:r>
              <a:t>perfilamiento. El resultado de esta etapa son 2.213 personas caracterizadas con 85</a:t>
            </a:r>
          </a:p>
          <a:p>
            <a:r>
              <a:t>variables que resumen su trayectoria.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Esas 85 variables no se pueden usar directamente en un algoritmo de clustering: son de</a:t>
            </a:r>
          </a:p>
          <a:p>
            <a:r>
              <a:t>distinto tipo y escala. Por eso las transformamos -log1p en 46 variables muy sesgadas-,</a:t>
            </a:r>
          </a:p>
          <a:p>
            <a:r>
              <a:t>codificamos las categoricas y estandarizamos todo con StandardScaler. El resultado es una</a:t>
            </a:r>
          </a:p>
          <a:p>
            <a:r>
              <a:t>matriz de 100 variables para las mismas 2.213 personas, sin nulos ni infinitos, lista para</a:t>
            </a:r>
          </a:p>
          <a:p>
            <a:r>
              <a:t>calcular distancias entre personas de forma consistente. (~35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 esa matriz evaluamos varios algoritmos: K-Means de 2 a 12 clusters, jerarquico con</a:t>
            </a:r>
          </a:p>
          <a:p>
            <a:r>
              <a:t>Ward, DBSCAN y HDBSCAN. Nos quedamos con K-Means, K igual a 5. No elegimos el mejor</a:t>
            </a:r>
          </a:p>
          <a:p>
            <a:r>
              <a:t>Silhouette -que correspondia a K igual a 2- porque ese corte era demasiado grueso y no</a:t>
            </a:r>
          </a:p>
          <a:p>
            <a:r>
              <a:t>separaba nada interpretable. K igual a 5, en cambio, tiene la mayor estabilidad entre</a:t>
            </a:r>
          </a:p>
          <a:p>
            <a:r>
              <a:t>semillas -casi 0.99 de ARI-, buen acuerdo con el clustering jerarquico, y grupos</a:t>
            </a:r>
          </a:p>
          <a:p>
            <a:r>
              <a:t>balanceados que van del 12% al 27% de la poblacion. Estos cinco grupos son los perfiles</a:t>
            </a:r>
          </a:p>
          <a:p>
            <a:r>
              <a:t>que se muestran aqui. (~45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Aqui es donde el clustering se vuelve util: no basta con decir 'grupo 2', hay que explicar</a:t>
            </a:r>
          </a:p>
          <a:p>
            <a:r>
              <a:t>que caracteriza a cada uno. Para eso usamos las variables de actividad que ya trae cada</a:t>
            </a:r>
          </a:p>
          <a:p>
            <a:r>
              <a:t>fuente: horas y cursos de docencia, proyectos de investigacion y vinculacion,</a:t>
            </a:r>
          </a:p>
          <a:p>
            <a:r>
              <a:t>capacitaciones, carga politecnica institucional. No inventamos una taxonomia de tareas</a:t>
            </a:r>
          </a:p>
          <a:p>
            <a:r>
              <a:t>nueva. Asi, el perfil 1 es claramente administrativo, con mas de 11 anios de experiencia en</a:t>
            </a:r>
          </a:p>
          <a:p>
            <a:r>
              <a:t>esa funcion; el perfil 2 concentra la mayor produccion de investigacion y publicaciones; el</a:t>
            </a:r>
          </a:p>
          <a:p>
            <a:r>
              <a:t>perfil 3 tiene la mayor carga docente pura; el perfil 0 tuvo actividad docente relevante en</a:t>
            </a:r>
          </a:p>
          <a:p>
            <a:r>
              <a:t>el pasado pero ya no esta vigente; y el perfil 4 corresponde a personas de ingreso</a:t>
            </a:r>
          </a:p>
          <a:p>
            <a:r>
              <a:t>reciente. Ademas exploramos embeddings de texto sobre publicaciones, proyectos y otras</a:t>
            </a:r>
          </a:p>
          <a:p>
            <a:r>
              <a:t>fuentes con un modelo local, por privacidad. Cubren al 99% de las personas, pero los</a:t>
            </a:r>
          </a:p>
          <a:p>
            <a:r>
              <a:t>mantenemos como una representacion complementaria: no se fusionaron con el clustering</a:t>
            </a:r>
          </a:p>
          <a:p>
            <a:r>
              <a:t>estructural, porque el analisis de similitud entre ambos agrupamientos mostro que capturan</a:t>
            </a:r>
          </a:p>
          <a:p>
            <a:r>
              <a:t>cosas distintas. (~50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Todo este analisis se traduce en un prototipo funcional: un dashboard en Streamlit con</a:t>
            </a:r>
          </a:p>
          <a:p>
            <a:r>
              <a:t>seis pestanias, donde se puede ver la distribucion de perfiles, explorar que distingue a</a:t>
            </a:r>
          </a:p>
          <a:p>
            <a:r>
              <a:t>cada uno, consultar la ficha de una persona, filtrar candidatos para un equipo o comision</a:t>
            </a:r>
          </a:p>
          <a:p>
            <a:r>
              <a:t>sin usar sexo ni edad, y hasta hacer busqueda semantica en lenguaje natural. En resumen:</a:t>
            </a:r>
          </a:p>
          <a:p>
            <a:r>
              <a:t>partimos de informacion institucional dispersa en 19 fuentes, y llegamos a una</a:t>
            </a:r>
          </a:p>
          <a:p>
            <a:r>
              <a:t>representacion integrada que permite descubrir perfiles y entender que actividades</a:t>
            </a:r>
          </a:p>
          <a:p>
            <a:r>
              <a:t>caracterizan al personal de ESPOL. Muchas gracias. (~40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EA88A"/>
                </a:solidFill>
                <a:latin typeface="Calibri"/>
              </a:rPr>
              <a:t>ESPOL — MAESTRÍA EN CIENCIA DE DATOS 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1060704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dirty="0">
                <a:solidFill>
                  <a:srgbClr val="FFFFFF"/>
                </a:solidFill>
                <a:latin typeface="Calibri"/>
              </a:rPr>
              <a:t>Sistema de Generación de </a:t>
            </a:r>
            <a:r>
              <a:rPr sz="3800" b="1" i="0" dirty="0" err="1">
                <a:solidFill>
                  <a:srgbClr val="FFFFFF"/>
                </a:solidFill>
                <a:latin typeface="Calibri"/>
              </a:rPr>
              <a:t>Perfiles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del Personal</a:t>
            </a:r>
          </a:p>
          <a:p>
            <a:pPr algn="l">
              <a:lnSpc>
                <a:spcPct val="105000"/>
              </a:lnSpc>
            </a:pPr>
            <a:r>
              <a:rPr sz="3800" b="1" i="0" dirty="0" err="1">
                <a:solidFill>
                  <a:srgbClr val="FFFFFF"/>
                </a:solidFill>
                <a:latin typeface="Calibri"/>
              </a:rPr>
              <a:t>Docente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y </a:t>
            </a:r>
            <a:r>
              <a:rPr sz="3800" b="1" i="0" dirty="0" err="1">
                <a:solidFill>
                  <a:srgbClr val="FFFFFF"/>
                </a:solidFill>
                <a:latin typeface="Calibri"/>
              </a:rPr>
              <a:t>Administrativo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3800" b="1" i="0" dirty="0" err="1">
                <a:solidFill>
                  <a:srgbClr val="FFFFFF"/>
                </a:solidFill>
                <a:latin typeface="Calibri"/>
              </a:rPr>
              <a:t>en</a:t>
            </a:r>
            <a:r>
              <a:rPr sz="3800" b="1" i="0" dirty="0">
                <a:solidFill>
                  <a:srgbClr val="FFFFFF"/>
                </a:solidFill>
                <a:latin typeface="Calibri"/>
              </a:rPr>
              <a:t> ESPOL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C9D3DC"/>
                </a:solidFill>
                <a:latin typeface="Calibri"/>
              </a:rPr>
              <a:t>Identificación de perfiles y análisis de tareas/actividades del personal mediante clustering y procesamiento de información académica y profesional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626651"/>
            <a:ext cx="1463040" cy="254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733397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FFFFFF"/>
                </a:solidFill>
                <a:latin typeface="Calibri"/>
              </a:rPr>
              <a:t>Pamela Nayeli Rugel Diaz</a:t>
            </a:r>
            <a:endParaRPr lang="es-EC" sz="1800"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  <a:latin typeface="Calibri"/>
              </a:rPr>
              <a:t>Carlos Luis Sánchez Acosta</a:t>
            </a:r>
            <a:endParaRPr sz="1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A9B6C2"/>
                </a:solidFill>
                <a:latin typeface="Calibri"/>
              </a:rPr>
              <a:t>Avance de tesis — Escuela Superior Politécnica del Litoral (ESPOL)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AA8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88A"/>
                </a:solidFill>
                <a:latin typeface="Calibri"/>
              </a:rPr>
              <a:t>EL 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problema: información dispersa en múltiples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8630" y="6547104"/>
            <a:ext cx="47032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603504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>
                <a:solidFill>
                  <a:srgbClr val="2EA88A"/>
                </a:solidFill>
                <a:latin typeface="Calibri"/>
              </a:rPr>
              <a:t>●  </a:t>
            </a:r>
            <a:r>
              <a:rPr sz="1450" b="1">
                <a:solidFill>
                  <a:srgbClr val="1B222E"/>
                </a:solidFill>
                <a:latin typeface="Calibri"/>
              </a:rPr>
              <a:t>Fragmentación. </a:t>
            </a:r>
            <a:r>
              <a:rPr sz="1450" b="0">
                <a:solidFill>
                  <a:srgbClr val="1B222E"/>
                </a:solidFill>
                <a:latin typeface="Calibri"/>
              </a:rPr>
              <a:t>La trayectoria de cada persona (docencia, investigación, capacitación, experiencia...) vive en sistemas institucionales separados, sin una vista integrada por persona.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>
                <a:solidFill>
                  <a:srgbClr val="2EA88A"/>
                </a:solidFill>
                <a:latin typeface="Calibri"/>
              </a:rPr>
              <a:t>●  </a:t>
            </a:r>
            <a:r>
              <a:rPr sz="1450" b="1">
                <a:solidFill>
                  <a:srgbClr val="1B222E"/>
                </a:solidFill>
                <a:latin typeface="Calibri"/>
              </a:rPr>
              <a:t>Población de estudio. </a:t>
            </a:r>
            <a:r>
              <a:rPr sz="1450" b="0">
                <a:solidFill>
                  <a:srgbClr val="1B222E"/>
                </a:solidFill>
                <a:latin typeface="Calibri"/>
              </a:rPr>
              <a:t>Personal docente y administrativo contratado o vigente en los últimos 5 años.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450" b="1">
                <a:solidFill>
                  <a:srgbClr val="2EA88A"/>
                </a:solidFill>
                <a:latin typeface="Calibri"/>
              </a:rPr>
              <a:t>●  </a:t>
            </a:r>
            <a:r>
              <a:rPr sz="1450" b="1">
                <a:solidFill>
                  <a:srgbClr val="1B222E"/>
                </a:solidFill>
                <a:latin typeface="Calibri"/>
              </a:rPr>
              <a:t>Objetivo. </a:t>
            </a:r>
            <a:r>
              <a:rPr sz="1450" b="0">
                <a:solidFill>
                  <a:srgbClr val="1B222E"/>
                </a:solidFill>
                <a:latin typeface="Calibri"/>
              </a:rPr>
              <a:t>Integrar esa información dispersa para descubrir perfiles y apoyar procesos de gestión del talento (asignación de tareas, comisiones, planificación).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977639"/>
            <a:ext cx="6035040" cy="18288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7A3B"/>
                </a:solidFill>
                <a:latin typeface="Calibri"/>
              </a:rPr>
              <a:t>Dato destacado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34840"/>
            <a:ext cx="6035040" cy="704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 dirty="0">
                <a:solidFill>
                  <a:srgbClr val="464F5C"/>
                </a:solidFill>
                <a:latin typeface="Calibri"/>
              </a:rPr>
              <a:t>La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fuente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más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voluminosa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es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heteroevaluación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docente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: 76.645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registros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individuales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frente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apenas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2.213 personas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la población — un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ejemplo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de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por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qué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la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integración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a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nivel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de persona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requiere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agregación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464F5C"/>
                </a:solidFill>
                <a:latin typeface="Calibri"/>
              </a:rPr>
              <a:t>cuidadosa</a:t>
            </a:r>
            <a:r>
              <a:rPr sz="1300" b="0" i="0" dirty="0">
                <a:solidFill>
                  <a:srgbClr val="464F5C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5230" y="1371600"/>
            <a:ext cx="2273218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5230" y="1481328"/>
            <a:ext cx="2273218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EA88A"/>
                </a:solidFill>
                <a:latin typeface="Calibri"/>
              </a:rPr>
              <a:t>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5230" y="1956816"/>
            <a:ext cx="227321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464F5C"/>
                </a:solidFill>
                <a:latin typeface="Calibri"/>
              </a:rPr>
              <a:t>fuentes de datos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464F5C"/>
                </a:solidFill>
                <a:latin typeface="Calibri"/>
              </a:rPr>
              <a:t>institucionales originales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8721" y="1371600"/>
            <a:ext cx="2085090" cy="1143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8721" y="1481328"/>
            <a:ext cx="2273218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 dirty="0">
                <a:solidFill>
                  <a:srgbClr val="2EA88A"/>
                </a:solidFill>
                <a:latin typeface="Calibri"/>
              </a:rPr>
              <a:t>2.213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8721" y="1956816"/>
            <a:ext cx="227321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dirty="0">
                <a:solidFill>
                  <a:srgbClr val="464F5C"/>
                </a:solidFill>
                <a:latin typeface="Calibri"/>
              </a:rPr>
              <a:t>personas </a:t>
            </a:r>
            <a:r>
              <a:rPr sz="1150" b="0" i="0" dirty="0" err="1">
                <a:solidFill>
                  <a:srgbClr val="464F5C"/>
                </a:solidFill>
                <a:latin typeface="Calibri"/>
              </a:rPr>
              <a:t>en</a:t>
            </a:r>
            <a:r>
              <a:rPr sz="1150" b="0" i="0" dirty="0">
                <a:solidFill>
                  <a:srgbClr val="464F5C"/>
                </a:solidFill>
                <a:latin typeface="Calibri"/>
              </a:rPr>
              <a:t> la</a:t>
            </a:r>
          </a:p>
          <a:p>
            <a:pPr algn="ctr">
              <a:lnSpc>
                <a:spcPct val="100000"/>
              </a:lnSpc>
            </a:pPr>
            <a:r>
              <a:rPr sz="1150" b="0" i="0" dirty="0">
                <a:solidFill>
                  <a:srgbClr val="464F5C"/>
                </a:solidFill>
                <a:latin typeface="Calibri"/>
              </a:rPr>
              <a:t>población de </a:t>
            </a:r>
            <a:r>
              <a:rPr sz="1150" b="0" i="0" dirty="0" err="1">
                <a:solidFill>
                  <a:srgbClr val="464F5C"/>
                </a:solidFill>
                <a:latin typeface="Calibri"/>
              </a:rPr>
              <a:t>estudio</a:t>
            </a:r>
            <a:endParaRPr sz="1150" b="0" i="0" dirty="0">
              <a:solidFill>
                <a:srgbClr val="464F5C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5230" y="2788920"/>
            <a:ext cx="423288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22E"/>
                </a:solidFill>
                <a:latin typeface="Calibri"/>
              </a:rPr>
              <a:t>Dominios de información integrados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5230" y="3154680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15230" y="3154680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79822" y="3246120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FORMACIÓN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9822" y="3557016"/>
            <a:ext cx="184992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Titulaciones, idiomas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0686" y="3154680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0686" y="3154680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5278" y="3246120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DOCENCIA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5278" y="3557016"/>
            <a:ext cx="184992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Carga académica, heteroevaluación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5230" y="4096512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815230" y="4096512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9822" y="4187952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INVESTIGACIÓN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9822" y="4498848"/>
            <a:ext cx="184992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Proyectos, publicaciones, ponencias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0686" y="4096512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20686" y="4096512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85278" y="4187952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EXPERIENCIA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5278" y="4498848"/>
            <a:ext cx="184992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Historial laboral, experiencia externa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5230" y="5038344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15230" y="5038344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79822" y="5129784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CAPACITACIÓN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9822" y="5440680"/>
            <a:ext cx="184992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Cursos y certificaciones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0686" y="5038344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320686" y="5038344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85278" y="5129784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VINCULACIÓN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85278" y="5440680"/>
            <a:ext cx="1849929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Proyectos de vinculación, proyectos de grado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5230" y="5980176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815230" y="5980176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979822" y="6071616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RECONOCIMIENTOS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79822" y="6382512"/>
            <a:ext cx="184992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Menciones de honor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0686" y="5980176"/>
            <a:ext cx="208509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320686" y="5980176"/>
            <a:ext cx="47032" cy="86868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85278" y="6071616"/>
            <a:ext cx="1849929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CARGA POLITÉCNICA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85278" y="6382512"/>
            <a:ext cx="1849929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Actividades institucionales/gestión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88A"/>
                </a:solidFill>
                <a:latin typeface="Calibri"/>
              </a:rPr>
              <a:t>INTEGRACIÓN (NOTEBOOKS 02-03)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 múltiples fuentes a una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4114800" cy="566928"/>
          </a:xfrm>
          <a:prstGeom prst="roundRect">
            <a:avLst/>
          </a:prstGeom>
          <a:solidFill>
            <a:srgbClr val="102A43"/>
          </a:solidFill>
          <a:ln w="635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19 FUENTES INSTITUCIONALES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2441448" y="1993392"/>
            <a:ext cx="237744" cy="182880"/>
          </a:xfrm>
          <a:prstGeom prst="down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2920" y="2185416"/>
            <a:ext cx="4114800" cy="566928"/>
          </a:xfrm>
          <a:prstGeom prst="roundRect">
            <a:avLst/>
          </a:prstGeom>
          <a:solidFill>
            <a:srgbClr val="2EA88A"/>
          </a:solidFill>
          <a:ln w="6350">
            <a:solidFill>
              <a:srgbClr val="2EA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IDPERSONA (llave de integración)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441448" y="2761488"/>
            <a:ext cx="237744" cy="182880"/>
          </a:xfrm>
          <a:prstGeom prst="down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02920" y="2953512"/>
            <a:ext cx="4114800" cy="566928"/>
          </a:xfrm>
          <a:prstGeom prst="roundRect">
            <a:avLst/>
          </a:prstGeom>
          <a:solidFill>
            <a:srgbClr val="1C3D5E"/>
          </a:solidFill>
          <a:ln w="6350">
            <a:solidFill>
              <a:srgbClr val="1C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LIMPIEZA Y TRATAMIENTO DE FALTANTES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441448" y="3529584"/>
            <a:ext cx="237744" cy="182880"/>
          </a:xfrm>
          <a:prstGeom prst="down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3721608"/>
            <a:ext cx="4114800" cy="566928"/>
          </a:xfrm>
          <a:prstGeom prst="roundRect">
            <a:avLst/>
          </a:prstGeom>
          <a:solidFill>
            <a:srgbClr val="E07A3B"/>
          </a:solidFill>
          <a:ln w="6350">
            <a:solidFill>
              <a:srgbClr val="E0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 FILA = 1 PERSONA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441448" y="4297680"/>
            <a:ext cx="237744" cy="182880"/>
          </a:xfrm>
          <a:prstGeom prst="down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4489704"/>
            <a:ext cx="4114800" cy="566928"/>
          </a:xfrm>
          <a:prstGeom prst="roundRect">
            <a:avLst/>
          </a:prstGeom>
          <a:solidFill>
            <a:srgbClr val="C9A027"/>
          </a:solidFill>
          <a:ln w="6350">
            <a:solidFill>
              <a:srgbClr val="C9A0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CARACTERÍSTICAS POR 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417320"/>
            <a:ext cx="66751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2EA88A"/>
                </a:solidFill>
                <a:latin typeface="Calibri"/>
              </a:rPr>
              <a:t>●  </a:t>
            </a:r>
            <a:r>
              <a:rPr sz="1350" b="1">
                <a:solidFill>
                  <a:srgbClr val="1B222E"/>
                </a:solidFill>
                <a:latin typeface="Calibri"/>
              </a:rPr>
              <a:t>IDPERSONA como llave. </a:t>
            </a:r>
            <a:r>
              <a:rPr sz="1350" b="0">
                <a:solidFill>
                  <a:srgbClr val="1B222E"/>
                </a:solidFill>
                <a:latin typeface="Calibri"/>
              </a:rPr>
              <a:t>Cada una de las 19 fuentes se une por IDPERSONA para construir una vista única por persona.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2EA88A"/>
                </a:solidFill>
                <a:latin typeface="Calibri"/>
              </a:rPr>
              <a:t>●  </a:t>
            </a:r>
            <a:r>
              <a:rPr sz="1350" b="1">
                <a:solidFill>
                  <a:srgbClr val="1B222E"/>
                </a:solidFill>
                <a:latin typeface="Calibri"/>
              </a:rPr>
              <a:t>Limpieza y datos faltantes. </a:t>
            </a:r>
            <a:r>
              <a:rPr sz="1350" b="0">
                <a:solidFill>
                  <a:srgbClr val="1B222E"/>
                </a:solidFill>
                <a:latin typeface="Calibri"/>
              </a:rPr>
              <a:t>Tratamiento explícito de valores nulos (imputación por mediana/moda o marcador 'sin dato' según la variable).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2EA88A"/>
                </a:solidFill>
                <a:latin typeface="Calibri"/>
              </a:rPr>
              <a:t>●  </a:t>
            </a:r>
            <a:r>
              <a:rPr sz="1350" b="1">
                <a:solidFill>
                  <a:srgbClr val="1B222E"/>
                </a:solidFill>
                <a:latin typeface="Calibri"/>
              </a:rPr>
              <a:t>Eliminación de columnas no útiles. </a:t>
            </a:r>
            <a:r>
              <a:rPr sz="1350" b="0">
                <a:solidFill>
                  <a:srgbClr val="1B222E"/>
                </a:solidFill>
                <a:latin typeface="Calibri"/>
              </a:rPr>
              <a:t>15 columnas descartadas explícitamente por ser demográficas (sexo, edad, origen) o redundantes con otra variable ya incluida.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350" b="1">
                <a:solidFill>
                  <a:srgbClr val="2EA88A"/>
                </a:solidFill>
                <a:latin typeface="Calibri"/>
              </a:rPr>
              <a:t>●  </a:t>
            </a:r>
            <a:r>
              <a:rPr sz="1350" b="1">
                <a:solidFill>
                  <a:srgbClr val="1B222E"/>
                </a:solidFill>
                <a:latin typeface="Calibri"/>
              </a:rPr>
              <a:t>Agregación de trayectoria. </a:t>
            </a:r>
            <a:r>
              <a:rPr sz="1350" b="0">
                <a:solidFill>
                  <a:srgbClr val="1B222E"/>
                </a:solidFill>
                <a:latin typeface="Calibri"/>
              </a:rPr>
              <a:t>Actividades históricas (cursos, proyectos, publicaciones, capacitaciones...) se agregan por persona en conteos, sumas y proporciones.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4709160"/>
            <a:ext cx="21488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481888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02A43"/>
                </a:solidFill>
                <a:latin typeface="Calibri"/>
              </a:rPr>
              <a:t>2.213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294376"/>
            <a:ext cx="214884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4F5C"/>
                </a:solidFill>
                <a:latin typeface="Calibri"/>
              </a:rPr>
              <a:t>personas integradas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709160"/>
            <a:ext cx="21488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481888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02A43"/>
                </a:solidFill>
                <a:latin typeface="Calibri"/>
              </a:rPr>
              <a:t>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294376"/>
            <a:ext cx="214884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4F5C"/>
                </a:solidFill>
                <a:latin typeface="Calibri"/>
              </a:rPr>
              <a:t>características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4F5C"/>
                </a:solidFill>
                <a:latin typeface="Calibri"/>
              </a:rPr>
              <a:t>construidas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4709160"/>
            <a:ext cx="2148840" cy="105156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0" y="4818888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02A43"/>
                </a:solidFill>
                <a:latin typeface="Calibri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294376"/>
            <a:ext cx="214884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4F5C"/>
                </a:solidFill>
                <a:latin typeface="Calibri"/>
              </a:rPr>
              <a:t>columnas descartadas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464F5C"/>
                </a:solidFill>
                <a:latin typeface="Calibri"/>
              </a:rPr>
              <a:t>(sesgo o redundancia)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897880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64F5C"/>
                </a:solidFill>
                <a:latin typeface="Calibri"/>
              </a:rPr>
              <a:t>Fuente: data/features/dataset_personas_features.csv, feature_dictionary.csv, features_excluded.csv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88A"/>
                </a:solidFill>
                <a:latin typeface="Calibri"/>
              </a:rPr>
              <a:t>PREPARACIÓN DEL MODELADO (NOTEBOOK 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 características a una matriz de modelado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9470" y="1600200"/>
            <a:ext cx="1874519" cy="960120"/>
          </a:xfrm>
          <a:prstGeom prst="roundRect">
            <a:avLst/>
          </a:prstGeom>
          <a:solidFill>
            <a:srgbClr val="102A43"/>
          </a:solidFill>
          <a:ln w="635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85
FEATURES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43989" y="1979676"/>
            <a:ext cx="3200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64029" y="1600200"/>
            <a:ext cx="1874519" cy="960120"/>
          </a:xfrm>
          <a:prstGeom prst="roundRect">
            <a:avLst/>
          </a:prstGeom>
          <a:solidFill>
            <a:srgbClr val="1C3D5E"/>
          </a:solidFill>
          <a:ln w="6350">
            <a:solidFill>
              <a:srgbClr val="1C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TRANSFORMACIÓN
(log1p en 46 vars.)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38548" y="1979676"/>
            <a:ext cx="3200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58588" y="1600200"/>
            <a:ext cx="1874519" cy="960120"/>
          </a:xfrm>
          <a:prstGeom prst="roundRect">
            <a:avLst/>
          </a:prstGeom>
          <a:solidFill>
            <a:srgbClr val="2EA88A"/>
          </a:solidFill>
          <a:ln w="6350">
            <a:solidFill>
              <a:srgbClr val="2EA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ENCODING
(one-hot / binaria / ordinal)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33107" y="1979676"/>
            <a:ext cx="3200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53147" y="1600200"/>
            <a:ext cx="1874519" cy="960120"/>
          </a:xfrm>
          <a:prstGeom prst="roundRect">
            <a:avLst/>
          </a:prstGeom>
          <a:solidFill>
            <a:srgbClr val="E07A3B"/>
          </a:solidFill>
          <a:ln w="6350">
            <a:solidFill>
              <a:srgbClr val="E0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ESCALAMIENTO
(StandardScaler)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227666" y="1979676"/>
            <a:ext cx="3200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547706" y="1600200"/>
            <a:ext cx="1874519" cy="960120"/>
          </a:xfrm>
          <a:prstGeom prst="roundRect">
            <a:avLst/>
          </a:prstGeom>
          <a:solidFill>
            <a:srgbClr val="C9A027"/>
          </a:solidFill>
          <a:ln w="6350">
            <a:solidFill>
              <a:srgbClr val="C9A0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100
FEATURES FINALES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8036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02A43"/>
                </a:solidFill>
                <a:latin typeface="Calibri"/>
              </a:rPr>
              <a:t>Resultado: 2.213 personas × 100 variables — 0 nulos, 0 valores infinitos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204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22E"/>
                </a:solidFill>
                <a:latin typeface="Calibri"/>
              </a:rPr>
              <a:t>Composición de las 85 variables incluidas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31920"/>
            <a:ext cx="548640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99592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E"/>
                </a:solidFill>
                <a:latin typeface="Calibri"/>
              </a:rPr>
              <a:t>Numéricas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995928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72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389120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45312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E"/>
                </a:solidFill>
                <a:latin typeface="Calibri"/>
              </a:rPr>
              <a:t>Categóricas (one-hot)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4453128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46320"/>
            <a:ext cx="5486400" cy="42062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91032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E"/>
                </a:solidFill>
                <a:latin typeface="Calibri"/>
              </a:rPr>
              <a:t>Binarias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910328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03520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36752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B222E"/>
                </a:solidFill>
                <a:latin typeface="Calibri"/>
              </a:rPr>
              <a:t>Excluidas (alta cardinalidad)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367528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102A43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20440"/>
            <a:ext cx="521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22E"/>
                </a:solidFill>
                <a:latin typeface="Calibri"/>
              </a:rPr>
              <a:t>¿Por qué es necesario este paso?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31920"/>
            <a:ext cx="52120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A88A"/>
                </a:solidFill>
                <a:latin typeface="Calibri"/>
              </a:rPr>
              <a:t>●  </a:t>
            </a:r>
            <a:r>
              <a:rPr sz="1250">
                <a:solidFill>
                  <a:srgbClr val="1B222E"/>
                </a:solidFill>
                <a:latin typeface="Calibri"/>
              </a:rPr>
              <a:t>Los algoritmos de clustering basados en distancia (K-Means) requieren variables numéricas, sin nulos y en escalas comparables entre sí.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A88A"/>
                </a:solidFill>
                <a:latin typeface="Calibri"/>
              </a:rPr>
              <a:t>●  </a:t>
            </a:r>
            <a:r>
              <a:rPr sz="1250">
                <a:solidFill>
                  <a:srgbClr val="1B222E"/>
                </a:solidFill>
                <a:latin typeface="Calibri"/>
              </a:rPr>
              <a:t>Las variables muy sesgadas (conteos de proyectos, publicaciones, etc.) se transforman con log1p para que valores extremos no dominen la distancia.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EA88A"/>
                </a:solidFill>
                <a:latin typeface="Calibri"/>
              </a:rPr>
              <a:t>●  </a:t>
            </a:r>
            <a:r>
              <a:rPr sz="1250">
                <a:solidFill>
                  <a:srgbClr val="1B222E"/>
                </a:solidFill>
                <a:latin typeface="Calibri"/>
              </a:rPr>
              <a:t>Las variables categóricas (régimen, tipo de empleado, dedicación) se codifican para poder combinarse con las numéricas en una sola matriz.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35508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464F5C"/>
                </a:solidFill>
                <a:latin typeface="Calibri"/>
              </a:rPr>
              <a:t>Fuente: data/modeling/preprocessing_summary.csv, X_modelado.csv, feature_names_modelado.csv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88A"/>
                </a:solidFill>
                <a:latin typeface="Calibri"/>
              </a:rPr>
              <a:t>CLUSTERING (NOTEBOOK 05)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Clustering: cinco perfiles institucionales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41605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2EA88A"/>
                </a:solidFill>
                <a:latin typeface="Calibri"/>
              </a:rPr>
              <a:t>●  </a:t>
            </a:r>
            <a:r>
              <a:rPr sz="1250" b="1">
                <a:solidFill>
                  <a:srgbClr val="1B222E"/>
                </a:solidFill>
                <a:latin typeface="Calibri"/>
              </a:rPr>
              <a:t>Algoritmos evaluados. </a:t>
            </a:r>
            <a:r>
              <a:rPr sz="1250" b="0">
                <a:solidFill>
                  <a:srgbClr val="1B222E"/>
                </a:solidFill>
                <a:latin typeface="Calibri"/>
              </a:rPr>
              <a:t>K-Means (K=2-12), jerárquico Ward (K=3-7), DBSCAN y HDBSCAN.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2EA88A"/>
                </a:solidFill>
                <a:latin typeface="Calibri"/>
              </a:rPr>
              <a:t>●  </a:t>
            </a:r>
            <a:r>
              <a:rPr sz="1250" b="1">
                <a:solidFill>
                  <a:srgbClr val="1B222E"/>
                </a:solidFill>
                <a:latin typeface="Calibri"/>
              </a:rPr>
              <a:t>Modelo final. </a:t>
            </a:r>
            <a:r>
              <a:rPr sz="1250" b="0">
                <a:solidFill>
                  <a:srgbClr val="1B222E"/>
                </a:solidFill>
                <a:latin typeface="Calibri"/>
              </a:rPr>
              <a:t>K-Means, K=5 (n_init=10, random_state=42).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250" b="1">
                <a:solidFill>
                  <a:srgbClr val="2EA88A"/>
                </a:solidFill>
                <a:latin typeface="Calibri"/>
              </a:rPr>
              <a:t>●  </a:t>
            </a:r>
            <a:r>
              <a:rPr sz="1250" b="1">
                <a:solidFill>
                  <a:srgbClr val="1B222E"/>
                </a:solidFill>
                <a:latin typeface="Calibri"/>
              </a:rPr>
              <a:t>Criterio de selección. </a:t>
            </a:r>
            <a:r>
              <a:rPr sz="1250" b="0">
                <a:solidFill>
                  <a:srgbClr val="1B222E"/>
                </a:solidFill>
                <a:latin typeface="Calibri"/>
              </a:rPr>
              <a:t>Mayor estabilidad entre semillas, mejor acuerdo con el clustering jerárquico, tamaños balanceados y primer K que separa perfiles sustantivamente distintos (K=2 tenía mejor Silhouette pero era un corte demasiado grueso, no interpretable).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11880"/>
            <a:ext cx="1307592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68503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A88A"/>
                </a:solidFill>
                <a:latin typeface="Calibri"/>
              </a:rPr>
              <a:t>0.117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13075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Silhouette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1952" y="3611880"/>
            <a:ext cx="1307592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01952" y="368503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A88A"/>
                </a:solidFill>
                <a:latin typeface="Calibri"/>
              </a:rPr>
              <a:t>0.99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4160520"/>
            <a:ext cx="13075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ARI entre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semillas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00984" y="3611880"/>
            <a:ext cx="1307592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00984" y="3685032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A88A"/>
                </a:solidFill>
                <a:latin typeface="Calibri"/>
              </a:rPr>
              <a:t>0.66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984" y="4160520"/>
            <a:ext cx="130759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ARI vs.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64F5C"/>
                </a:solidFill>
                <a:latin typeface="Calibri"/>
              </a:rPr>
              <a:t>jerárquico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54880"/>
            <a:ext cx="416052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64F5C"/>
                </a:solidFill>
                <a:latin typeface="Calibri"/>
              </a:rPr>
              <a:t>Los 5 perfiles no son categorías institucionales oficiales: son una síntesis interpretativa a partir de las variables que más distinguen a cada grupo (cluster_characterization.csv).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892040" y="1280160"/>
          <a:ext cx="68122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Rectangle 19"/>
          <p:cNvSpPr/>
          <p:nvPr/>
        </p:nvSpPr>
        <p:spPr>
          <a:xfrm>
            <a:off x="4892040" y="3977639"/>
            <a:ext cx="54864" cy="196596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6" y="39776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A88A"/>
                </a:solidFill>
                <a:latin typeface="Calibri"/>
              </a:rPr>
              <a:t>Perfil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4270247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Docente de trayectoria histórica</a:t>
            </a:r>
          </a:p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moderada (mayormente no vigente)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55778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A43"/>
                </a:solidFill>
                <a:latin typeface="Calibri"/>
              </a:rPr>
              <a:t>21,8%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3977639"/>
            <a:ext cx="54864" cy="1965960"/>
          </a:xfrm>
          <a:prstGeom prst="rect">
            <a:avLst/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73368" y="39776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7A3B"/>
                </a:solidFill>
                <a:latin typeface="Calibri"/>
              </a:rPr>
              <a:t>Perfil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270247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Administrativo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55778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A43"/>
                </a:solidFill>
                <a:latin typeface="Calibri"/>
              </a:rPr>
              <a:t>26,6%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98664" y="3977639"/>
            <a:ext cx="54864" cy="1965960"/>
          </a:xfrm>
          <a:prstGeom prst="rect">
            <a:avLst/>
          </a:prstGeom>
          <a:solidFill>
            <a:srgbClr val="1C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80" y="39776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C3D5E"/>
                </a:solidFill>
                <a:latin typeface="Calibri"/>
              </a:rPr>
              <a:t>Perfil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4270247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Alta producción académica e</a:t>
            </a:r>
          </a:p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investigativa / liderazgo integral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55778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A43"/>
                </a:solidFill>
                <a:latin typeface="Calibri"/>
              </a:rPr>
              <a:t>11,8%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1976" y="3977639"/>
            <a:ext cx="54864" cy="1965960"/>
          </a:xfrm>
          <a:prstGeom prst="rect">
            <a:avLst/>
          </a:prstGeom>
          <a:solidFill>
            <a:srgbClr val="C9A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9992" y="39776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6D10"/>
                </a:solidFill>
                <a:latin typeface="Calibri"/>
              </a:rPr>
              <a:t>Perfil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9992" y="4270247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Alta carga docente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55778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A43"/>
                </a:solidFill>
                <a:latin typeface="Calibri"/>
              </a:rPr>
              <a:t>14,7%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05288" y="3977639"/>
            <a:ext cx="54864" cy="1965960"/>
          </a:xfrm>
          <a:prstGeom prst="rect">
            <a:avLst/>
          </a:prstGeom>
          <a:solidFill>
            <a:srgbClr val="8A5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33304" y="39776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8A5AB0"/>
                </a:solidFill>
                <a:latin typeface="Calibri"/>
              </a:rPr>
              <a:t>Perfil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33304" y="4270247"/>
            <a:ext cx="126187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" b="0" i="0">
                <a:solidFill>
                  <a:srgbClr val="1B222E"/>
                </a:solidFill>
                <a:latin typeface="Calibri"/>
              </a:rPr>
              <a:t>Ingreso reciente / trayectoria corta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33304" y="5577839"/>
            <a:ext cx="12161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A43"/>
                </a:solidFill>
                <a:latin typeface="Calibri"/>
              </a:rPr>
              <a:t>25,0%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6172200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464F5C"/>
                </a:solidFill>
                <a:latin typeface="Calibri"/>
              </a:rPr>
              <a:t>Fuente: data/clustering/clustering_metrics.csv, cluster_sizes.csv, evaluacion_k.csv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88A"/>
                </a:solidFill>
                <a:latin typeface="Calibri"/>
              </a:rPr>
              <a:t>PERFILES Y ACTIVIDADES (05_CLUSTERING / 06_EMBEDDINGS)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¿Qué actividades caracterizan a cada perfil?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2014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464F5C"/>
                </a:solidFill>
                <a:latin typeface="Calibri"/>
              </a:rPr>
              <a:t>El clustering agrupa personas con trayectorias similares; las variables de actividad (docencia, carga politécnica, investigación, vinculación, capacitación) permiten interpretar el tipo de trabajo de cada grupo. No se creó una taxonomía de tareas nueva: se usan las categorías ya registradas por los sistemas institucionales.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73152" cy="566928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883663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Perfil 0 — Docente de trayectoria histórica moderada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1883663"/>
            <a:ext cx="7635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22E"/>
                </a:solidFill>
                <a:latin typeface="Calibri"/>
              </a:rPr>
              <a:t>Docencia moderada histórica (mediana 1.233 h, 4 periodos, 17 cursos), pero ya no vigente (3,7% vigente vs 30,9% institucional).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96311"/>
            <a:ext cx="73152" cy="566928"/>
          </a:xfrm>
          <a:prstGeom prst="rect">
            <a:avLst/>
          </a:prstGeom>
          <a:solidFill>
            <a:srgbClr val="E0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505455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Perfil 1 — Administrativo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505455"/>
            <a:ext cx="7635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22E"/>
                </a:solidFill>
                <a:latin typeface="Calibri"/>
              </a:rPr>
              <a:t>11,15 años de experiencia administrativa (vs 0,84 institucional), régimen LOSEP predominante, sin dedicación docente.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18103"/>
            <a:ext cx="73152" cy="566928"/>
          </a:xfrm>
          <a:prstGeom prst="rect">
            <a:avLst/>
          </a:prstGeom>
          <a:solidFill>
            <a:srgbClr val="1C3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3127247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Perfil 2 — Alta producción académica e investigativa / liderazgo integral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127247"/>
            <a:ext cx="7635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22E"/>
                </a:solidFill>
                <a:latin typeface="Calibri"/>
              </a:rPr>
              <a:t>11 proyectos de investigación (mediana, 4 como director), 18 publicaciones (11 indexadas), 72,5% con roles docente-administrativo mixtos.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39895"/>
            <a:ext cx="73152" cy="566928"/>
          </a:xfrm>
          <a:prstGeom prst="rect">
            <a:avLst/>
          </a:prstGeom>
          <a:solidFill>
            <a:srgbClr val="C9A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749039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Perfil 3 — Alta carga docente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749039"/>
            <a:ext cx="7635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22E"/>
                </a:solidFill>
                <a:latin typeface="Calibri"/>
              </a:rPr>
              <a:t>5.082 h de docencia (mediana), 63 cursos, 1.406 estudiantes atendidos, 38 evaluaciones.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61687"/>
            <a:ext cx="73152" cy="566928"/>
          </a:xfrm>
          <a:prstGeom prst="rect">
            <a:avLst/>
          </a:prstGeom>
          <a:solidFill>
            <a:srgbClr val="8A5A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4370831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A43"/>
                </a:solidFill>
                <a:latin typeface="Calibri"/>
              </a:rPr>
              <a:t>Perfil 4 — Ingreso reciente / trayectoria corta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370831"/>
            <a:ext cx="7635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B222E"/>
                </a:solidFill>
                <a:latin typeface="Calibri"/>
              </a:rPr>
              <a:t>Antigüedad ~1,3 años, solo 4 registros históricos (vs 20,5 institucional); predominan técnicos de investigación.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74920"/>
            <a:ext cx="11201400" cy="12344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5074920"/>
            <a:ext cx="73152" cy="1234440"/>
          </a:xfrm>
          <a:prstGeom prst="rect">
            <a:avLst/>
          </a:prstGeom>
          <a:solidFill>
            <a:srgbClr val="C9A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5166360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02A43"/>
                </a:solidFill>
                <a:latin typeface="Calibri"/>
              </a:rPr>
              <a:t>Embeddings de texto (06_embeddings): representación complementaria, no fusionada con el clustering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495544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30" b="1">
                <a:solidFill>
                  <a:srgbClr val="2EA88A"/>
                </a:solidFill>
                <a:latin typeface="Calibri"/>
              </a:rPr>
              <a:t>●  </a:t>
            </a:r>
            <a:r>
              <a:rPr sz="1030">
                <a:solidFill>
                  <a:srgbClr val="464F5C"/>
                </a:solidFill>
                <a:latin typeface="Calibri"/>
              </a:rPr>
              <a:t>Texto de 9 fuentes (publicaciones, proyectos de investigación/vinculación, ponencias, capacitaciones, certificaciones, cargos externos, materias, tesis dirigidas) codificado con el modelo local paraphrase-multilingual-MiniLM-L12-v2 (384 dim, sin enviar datos a terceros).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030" b="1">
                <a:solidFill>
                  <a:srgbClr val="2EA88A"/>
                </a:solidFill>
                <a:latin typeface="Calibri"/>
              </a:rPr>
              <a:t>●  </a:t>
            </a:r>
            <a:r>
              <a:rPr sz="1030">
                <a:solidFill>
                  <a:srgbClr val="464F5C"/>
                </a:solidFill>
                <a:latin typeface="Calibri"/>
              </a:rPr>
              <a:t>Cobertura: 2.196/2.213 personas (99,2%). No se fusionó con la matriz estructural (ARI = 0,116 entre ambos agrupamientos): son representaciones complementarias, usadas para búsqueda semántica en el dashboard, exploratorias — no redefinen los perfiles.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A88A"/>
                </a:solidFill>
                <a:latin typeface="Calibri"/>
              </a:rPr>
              <a:t>PROTOTIPO (NOTEBOOK 07_DASHBOARD)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7899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Del análisis técnico a una herramienta de exploración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Sistema de Generacion de Perfiles del Personal ESPOL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471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64F5C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dashboard_resume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6080760" cy="4370546"/>
          </a:xfrm>
          <a:prstGeom prst="rect">
            <a:avLst/>
          </a:prstGeom>
          <a:ln w="12700">
            <a:solidFill>
              <a:srgbClr val="D8DEE4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696426"/>
            <a:ext cx="6080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464F5C"/>
                </a:solidFill>
                <a:latin typeface="Calibri"/>
              </a:rPr>
              <a:t>Captura real — pestaña “Resumen general”, notebooks/07_dashboard/app.py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280160"/>
            <a:ext cx="4892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22E"/>
                </a:solidFill>
                <a:latin typeface="Calibri"/>
              </a:rPr>
              <a:t>Funcionalidades implementadas (5 pestañas)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627632"/>
            <a:ext cx="4892040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000" b="1">
                <a:solidFill>
                  <a:srgbClr val="2EA88A"/>
                </a:solidFill>
                <a:latin typeface="Calibri"/>
              </a:rPr>
              <a:t>●  </a:t>
            </a:r>
            <a:r>
              <a:rPr sz="1000" b="1">
                <a:solidFill>
                  <a:srgbClr val="1B222E"/>
                </a:solidFill>
                <a:latin typeface="Calibri"/>
              </a:rPr>
              <a:t>Resumen general — </a:t>
            </a:r>
            <a:r>
              <a:rPr sz="1000" b="0">
                <a:solidFill>
                  <a:srgbClr val="1B222E"/>
                </a:solidFill>
                <a:latin typeface="Calibri"/>
              </a:rPr>
              <a:t>distribución de personas por perfil y composición docente/administrativo.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000" b="1">
                <a:solidFill>
                  <a:srgbClr val="2EA88A"/>
                </a:solidFill>
                <a:latin typeface="Calibri"/>
              </a:rPr>
              <a:t>●  </a:t>
            </a:r>
            <a:r>
              <a:rPr sz="1000" b="1">
                <a:solidFill>
                  <a:srgbClr val="1B222E"/>
                </a:solidFill>
                <a:latin typeface="Calibri"/>
              </a:rPr>
              <a:t>Explorar perfiles — </a:t>
            </a:r>
            <a:r>
              <a:rPr sz="1000" b="0">
                <a:solidFill>
                  <a:srgbClr val="1B222E"/>
                </a:solidFill>
                <a:latin typeface="Calibri"/>
              </a:rPr>
              <a:t>variables más distintivas de cada perfil vs. la mediana institucional.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000" b="1">
                <a:solidFill>
                  <a:srgbClr val="2EA88A"/>
                </a:solidFill>
                <a:latin typeface="Calibri"/>
              </a:rPr>
              <a:t>●  </a:t>
            </a:r>
            <a:r>
              <a:rPr sz="1000" b="1">
                <a:solidFill>
                  <a:srgbClr val="1B222E"/>
                </a:solidFill>
                <a:latin typeface="Calibri"/>
              </a:rPr>
              <a:t>Buscar persona — </a:t>
            </a:r>
            <a:r>
              <a:rPr sz="1000" b="0">
                <a:solidFill>
                  <a:srgbClr val="1B222E"/>
                </a:solidFill>
                <a:latin typeface="Calibri"/>
              </a:rPr>
              <a:t>ficha individual con comparación por percentil (radar) frente a la institución.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000" b="1">
                <a:solidFill>
                  <a:srgbClr val="2EA88A"/>
                </a:solidFill>
                <a:latin typeface="Calibri"/>
              </a:rPr>
              <a:t>●  </a:t>
            </a:r>
            <a:r>
              <a:rPr sz="1000" b="1">
                <a:solidFill>
                  <a:srgbClr val="1B222E"/>
                </a:solidFill>
                <a:latin typeface="Calibri"/>
              </a:rPr>
              <a:t>Formar equipos/comisiones — </a:t>
            </a:r>
            <a:r>
              <a:rPr sz="1000" b="0">
                <a:solidFill>
                  <a:srgbClr val="1B222E"/>
                </a:solidFill>
                <a:latin typeface="Calibri"/>
              </a:rPr>
              <a:t>filtros profesionales (sin sexo ni edad) y descarga en CSV.</a:t>
            </a:r>
          </a:p>
          <a:p>
            <a:pPr>
              <a:lnSpc>
                <a:spcPct val="100000"/>
              </a:lnSpc>
              <a:spcAft>
                <a:spcPts val="450"/>
              </a:spcAft>
            </a:pPr>
            <a:r>
              <a:rPr sz="1000" b="1">
                <a:solidFill>
                  <a:srgbClr val="2EA88A"/>
                </a:solidFill>
                <a:latin typeface="Calibri"/>
              </a:rPr>
              <a:t>●  </a:t>
            </a:r>
            <a:r>
              <a:rPr sz="1000" b="1">
                <a:solidFill>
                  <a:srgbClr val="1B222E"/>
                </a:solidFill>
                <a:latin typeface="Calibri"/>
              </a:rPr>
              <a:t>Búsqueda semántica — </a:t>
            </a:r>
            <a:r>
              <a:rPr sz="1000" b="0">
                <a:solidFill>
                  <a:srgbClr val="1B222E"/>
                </a:solidFill>
                <a:latin typeface="Calibri"/>
              </a:rPr>
              <a:t>consulta en lenguaje natural sobre los embeddings de texto.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5140" y="3794760"/>
            <a:ext cx="896112" cy="548640"/>
          </a:xfrm>
          <a:prstGeom prst="roundRect">
            <a:avLst/>
          </a:prstGeom>
          <a:solidFill>
            <a:srgbClr val="102A43"/>
          </a:solidFill>
          <a:ln w="6350">
            <a:solidFill>
              <a:srgbClr val="102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31252" y="3968496"/>
            <a:ext cx="914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22692" y="3794760"/>
            <a:ext cx="896112" cy="548640"/>
          </a:xfrm>
          <a:prstGeom prst="roundRect">
            <a:avLst/>
          </a:prstGeom>
          <a:solidFill>
            <a:srgbClr val="1C3D5E"/>
          </a:solidFill>
          <a:ln w="6350">
            <a:solidFill>
              <a:srgbClr val="1C3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18804" y="3968496"/>
            <a:ext cx="914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10244" y="3794760"/>
            <a:ext cx="896112" cy="548640"/>
          </a:xfrm>
          <a:prstGeom prst="roundRect">
            <a:avLst/>
          </a:prstGeom>
          <a:solidFill>
            <a:srgbClr val="2EA88A"/>
          </a:solidFill>
          <a:ln w="6350">
            <a:solidFill>
              <a:srgbClr val="2EA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CLUSTERS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06356" y="3968496"/>
            <a:ext cx="914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97796" y="3794760"/>
            <a:ext cx="896112" cy="548640"/>
          </a:xfrm>
          <a:prstGeom prst="roundRect">
            <a:avLst/>
          </a:prstGeom>
          <a:solidFill>
            <a:srgbClr val="E07A3B"/>
          </a:solidFill>
          <a:ln w="6350">
            <a:solidFill>
              <a:srgbClr val="E07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PERFILES +
ACTIVIDADES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693908" y="3968496"/>
            <a:ext cx="91440" cy="201168"/>
          </a:xfrm>
          <a:prstGeom prst="rightArrow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785348" y="3794760"/>
            <a:ext cx="896112" cy="548640"/>
          </a:xfrm>
          <a:prstGeom prst="roundRect">
            <a:avLst/>
          </a:prstGeom>
          <a:solidFill>
            <a:srgbClr val="C9A027"/>
          </a:solidFill>
          <a:ln w="6350">
            <a:solidFill>
              <a:srgbClr val="C9A0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4617720"/>
            <a:ext cx="4892040" cy="16002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12280" y="4617720"/>
            <a:ext cx="64008" cy="1600200"/>
          </a:xfrm>
          <a:prstGeom prst="rect">
            <a:avLst/>
          </a:prstGeom>
          <a:solidFill>
            <a:srgbClr val="2E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4800600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“La propuesta transforma información institucional dispersa en una representación integrada que permite descubrir perfiles y analizar las actividades que caracterizan al personal.”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2092</Words>
  <Application>Microsoft Office PowerPoint</Application>
  <PresentationFormat>Widescreen</PresentationFormat>
  <Paragraphs>206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Pamela Nayeli Rugel Diaz</cp:lastModifiedBy>
  <cp:revision>3</cp:revision>
  <dcterms:created xsi:type="dcterms:W3CDTF">2013-01-27T09:14:16Z</dcterms:created>
  <dcterms:modified xsi:type="dcterms:W3CDTF">2026-09-01T10:26:10Z</dcterms:modified>
  <cp:category/>
</cp:coreProperties>
</file>